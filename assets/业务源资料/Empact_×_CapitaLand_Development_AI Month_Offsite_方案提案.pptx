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jpe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0"/>
            <a:ext cx="7144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571500"/>
            <a:ext cx="1028700" cy="3429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171700" y="634008"/>
            <a:ext cx="10715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>
                    <a:alpha val="50000"/>
                  </a:srgbClr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×</a:t>
            </a:r>
            <a:endParaRPr lang="en-US" sz="1250" dirty="0"/>
          </a:p>
        </p:txBody>
      </p:sp>
      <p:sp>
        <p:nvSpPr>
          <p:cNvPr id="8" name="Text 1"/>
          <p:cNvSpPr/>
          <p:nvPr/>
        </p:nvSpPr>
        <p:spPr>
          <a:xfrm>
            <a:off x="857250" y="1848110"/>
            <a:ext cx="742950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spc="3" kern="0" dirty="0">
                <a:solidFill>
                  <a:srgbClr val="63B3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AI INSPIRATION MONTH PROPOSAL</a:t>
            </a:r>
            <a:endParaRPr lang="en-US" sz="1250" dirty="0"/>
          </a:p>
        </p:txBody>
      </p:sp>
      <p:sp>
        <p:nvSpPr>
          <p:cNvPr id="9" name="Text 2"/>
          <p:cNvSpPr/>
          <p:nvPr/>
        </p:nvSpPr>
        <p:spPr>
          <a:xfrm>
            <a:off x="857250" y="2237445"/>
            <a:ext cx="7429500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500" spc="-1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凯德发展高管团队</a:t>
            </a:r>
            <a:r>
              <a:rPr lang="en-US" sz="3500" spc="-1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
</a:t>
            </a:r>
            <a:r>
              <a:rPr lang="en-US" sz="3500" spc="-1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同频与共创之旅</a:t>
            </a:r>
            <a:endParaRPr lang="en-US" sz="3500" dirty="0"/>
          </a:p>
        </p:txBody>
      </p:sp>
      <p:sp>
        <p:nvSpPr>
          <p:cNvPr id="10" name="Shape 3"/>
          <p:cNvSpPr/>
          <p:nvPr/>
        </p:nvSpPr>
        <p:spPr>
          <a:xfrm>
            <a:off x="857250" y="3982641"/>
            <a:ext cx="7429500" cy="58935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1" name="Shape 4"/>
          <p:cNvSpPr/>
          <p:nvPr/>
        </p:nvSpPr>
        <p:spPr>
          <a:xfrm>
            <a:off x="857250" y="3982641"/>
            <a:ext cx="742950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5"/>
          <p:cNvSpPr/>
          <p:nvPr/>
        </p:nvSpPr>
        <p:spPr>
          <a:xfrm>
            <a:off x="857250" y="4407694"/>
            <a:ext cx="70365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1" kern="0" dirty="0">
                <a:solidFill>
                  <a:srgbClr val="FFFFFF">
                    <a:alpha val="60000"/>
                  </a:srgbClr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JULY 2026</a:t>
            </a:r>
            <a:endParaRPr lang="en-US" sz="950" dirty="0"/>
          </a:p>
        </p:txBody>
      </p:sp>
      <p:sp>
        <p:nvSpPr>
          <p:cNvPr id="13" name="Text 6"/>
          <p:cNvSpPr/>
          <p:nvPr/>
        </p:nvSpPr>
        <p:spPr>
          <a:xfrm>
            <a:off x="7268766" y="4218384"/>
            <a:ext cx="101798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Maggie &amp; Sofia</a:t>
            </a:r>
            <a:endParaRPr lang="en-US" sz="1050" dirty="0"/>
          </a:p>
        </p:txBody>
      </p:sp>
      <p:sp>
        <p:nvSpPr>
          <p:cNvPr id="14" name="Text 7"/>
          <p:cNvSpPr/>
          <p:nvPr/>
        </p:nvSpPr>
        <p:spPr>
          <a:xfrm>
            <a:off x="7268766" y="4429125"/>
            <a:ext cx="101798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3B3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Empact Team</a:t>
            </a:r>
            <a:endParaRPr lang="en-US" sz="8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7027" y="571500"/>
            <a:ext cx="1064084" cy="3728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004A8F"/>
          </a:solidFill>
          <a:ln/>
        </p:spPr>
      </p:sp>
      <p:sp>
        <p:nvSpPr>
          <p:cNvPr id="4" name="Text 1"/>
          <p:cNvSpPr/>
          <p:nvPr/>
        </p:nvSpPr>
        <p:spPr>
          <a:xfrm>
            <a:off x="342900" y="171450"/>
            <a:ext cx="698301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spc="1" kern="0" dirty="0">
                <a:solidFill>
                  <a:srgbClr val="BFDBF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HIGHER PURPOSE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42900" y="342900"/>
            <a:ext cx="698301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b="1" spc="1" kern="0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Empact团队的理解与思考：从“创办活动”到“变革旅程”的战略起点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0" y="771525"/>
            <a:ext cx="9144000" cy="437197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" name="Text 4"/>
          <p:cNvSpPr/>
          <p:nvPr/>
        </p:nvSpPr>
        <p:spPr>
          <a:xfrm>
            <a:off x="342900" y="1000125"/>
            <a:ext cx="8458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004A8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顶层目标：重塑 AI 月的底层逻辑和需求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71600" y="1314450"/>
            <a:ext cx="64008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凯德 AI 月是企业从员工</a:t>
            </a:r>
            <a:r>
              <a:rPr lang="en-US" sz="900" b="1" dirty="0">
                <a:solidFill>
                  <a:srgbClr val="EA580C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个人零散用 AI</a:t>
            </a:r>
            <a:r>
              <a:rPr lang="en-US" sz="950" dirty="0">
                <a:solidFill>
                  <a:srgbClr val="37415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，升级为</a:t>
            </a:r>
            <a:r>
              <a:rPr lang="en-US" sz="900" b="1" dirty="0">
                <a:solidFill>
                  <a:srgbClr val="004A8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组织系统化 AI 能力建设、商业与社会双重价值共创</a:t>
            </a:r>
            <a:r>
              <a:rPr lang="en-US" sz="950" dirty="0">
                <a:solidFill>
                  <a:srgbClr val="37415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的启动节点。</a:t>
            </a:r>
            <a:r>
              <a:rPr lang="en-US" sz="950" dirty="0">
                <a:solidFill>
                  <a:srgbClr val="37415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Empact 的角色是帮助搭建框架、设计机制并推动闭环的变革伙伴。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2900" y="1960959"/>
            <a:ext cx="2705081" cy="13680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342900" y="1960959"/>
            <a:ext cx="2705081" cy="28575"/>
          </a:xfrm>
          <a:prstGeom prst="rect">
            <a:avLst/>
          </a:prstGeom>
          <a:solidFill>
            <a:srgbClr val="004A8F"/>
          </a:solidFill>
          <a:ln/>
        </p:spPr>
      </p:sp>
      <p:sp>
        <p:nvSpPr>
          <p:cNvPr id="11" name="Text 8"/>
          <p:cNvSpPr/>
          <p:nvPr/>
        </p:nvSpPr>
        <p:spPr>
          <a:xfrm>
            <a:off x="514350" y="2132409"/>
            <a:ext cx="2143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🎯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28663" y="2132409"/>
            <a:ext cx="12858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探索目的与撬动闭环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14350" y="2418159"/>
            <a:ext cx="2362181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这不是一次简单的外部参访、一次内部知识分享或是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一次传统的团建活动，而是一段 </a:t>
            </a:r>
            <a:r>
              <a:rPr lang="en-US" sz="700" b="1" dirty="0">
                <a:solidFill>
                  <a:srgbClr val="004A8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AI 变革旅程的开始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是从Inspire、Ideation到Equip、Embed的闭环开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始。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3219431" y="1960959"/>
            <a:ext cx="2705081" cy="13680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3219431" y="1960959"/>
            <a:ext cx="2705081" cy="28575"/>
          </a:xfrm>
          <a:prstGeom prst="rect">
            <a:avLst/>
          </a:prstGeom>
          <a:solidFill>
            <a:srgbClr val="004A8F"/>
          </a:solidFill>
          <a:ln/>
        </p:spPr>
      </p:sp>
      <p:sp>
        <p:nvSpPr>
          <p:cNvPr id="16" name="Text 13"/>
          <p:cNvSpPr/>
          <p:nvPr/>
        </p:nvSpPr>
        <p:spPr>
          <a:xfrm>
            <a:off x="3390881" y="2132409"/>
            <a:ext cx="2143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🧭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605194" y="2132409"/>
            <a:ext cx="12858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持续演进的角色思考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390881" y="2418159"/>
            <a:ext cx="2362181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HR 虽然不直接背负业务营收 KPI，但作为 </a:t>
            </a:r>
            <a:r>
              <a:rPr lang="en-US" sz="700" b="1" dirty="0">
                <a:solidFill>
                  <a:srgbClr val="004A8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AI 转型架</a:t>
            </a:r>
            <a:r>
              <a:rPr lang="en-US" sz="700" b="1" dirty="0">
                <a:solidFill>
                  <a:srgbClr val="004A8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构师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与组织激活者，期待启发全员 AI 语言、搭建落地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机制、沉淀可复制案例并推动长期试点。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095963" y="1960959"/>
            <a:ext cx="2705081" cy="13680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6095963" y="1960959"/>
            <a:ext cx="2705081" cy="28575"/>
          </a:xfrm>
          <a:prstGeom prst="rect">
            <a:avLst/>
          </a:prstGeom>
          <a:solidFill>
            <a:srgbClr val="004A8F"/>
          </a:solidFill>
          <a:ln/>
        </p:spPr>
      </p:sp>
      <p:sp>
        <p:nvSpPr>
          <p:cNvPr id="21" name="Text 18"/>
          <p:cNvSpPr/>
          <p:nvPr/>
        </p:nvSpPr>
        <p:spPr>
          <a:xfrm>
            <a:off x="6267413" y="2132409"/>
            <a:ext cx="2143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💡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81725" y="2132409"/>
            <a:ext cx="99655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精准定义AI价值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267413" y="2418159"/>
            <a:ext cx="2362181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引入 AI应用四象限 ：个人效率提升、内部流程再造、客户体验革新、社会价值共创。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342844" y="3683900"/>
            <a:ext cx="8458200" cy="1357313"/>
          </a:xfrm>
          <a:prstGeom prst="rect">
            <a:avLst/>
          </a:prstGeom>
          <a:solidFill>
            <a:srgbClr val="EFF6FF"/>
          </a:solidFill>
          <a:ln w="9144">
            <a:solidFill>
              <a:srgbClr val="BFDBF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4294" y="3869637"/>
            <a:ext cx="81153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00" b="1" dirty="0">
                <a:solidFill>
                  <a:srgbClr val="004A8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在进入具体的活动清单前，我们需要首先对齐以下核心问题：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14294" y="4183962"/>
            <a:ext cx="1571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9731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Q1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57182" y="4183962"/>
            <a:ext cx="213598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dirty="0">
                <a:solidFill>
                  <a:srgbClr val="1F2937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基于四象限模型，本次 AI 月的目的聚焦在哪里？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514294" y="4441137"/>
            <a:ext cx="1571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9731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Q2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57182" y="4441137"/>
            <a:ext cx="394692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dirty="0">
                <a:solidFill>
                  <a:srgbClr val="1F2937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高管、业务 Leader、HR 团队和普通员工，在本次 AI 变革旅程中分别承担什么具体角色？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514294" y="4701884"/>
            <a:ext cx="1571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9731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Q3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71457" y="4698312"/>
            <a:ext cx="39754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月结束时，留下什么可复用的组织资产（案例 / 机制 / 试点路线图），形成闭环的开始？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4A8F"/>
          </a:solidFill>
          <a:ln/>
        </p:spPr>
      </p:sp>
      <p:sp>
        <p:nvSpPr>
          <p:cNvPr id="4" name="Text 1"/>
          <p:cNvSpPr/>
          <p:nvPr/>
        </p:nvSpPr>
        <p:spPr>
          <a:xfrm>
            <a:off x="342900" y="228600"/>
            <a:ext cx="423624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spc="1" kern="0" dirty="0">
                <a:solidFill>
                  <a:srgbClr val="BFDBF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STRATEGIC APPROACH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42900" y="428625"/>
            <a:ext cx="423624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b="1" spc="1" kern="0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Empact的重新思考：如何定义凯德的 AI 月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0" y="914400"/>
            <a:ext cx="9144000" cy="42291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" name="Text 4"/>
          <p:cNvSpPr/>
          <p:nvPr/>
        </p:nvSpPr>
        <p:spPr>
          <a:xfrm>
            <a:off x="3630811" y="1146572"/>
            <a:ext cx="188237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"不是聚焦想办什么活动，而是关注：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002161" y="1318022"/>
            <a:ext cx="313967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真正想推动什么改变、谁需要改变、改变以后如何留下结果。"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42900" y="1714500"/>
            <a:ext cx="4114800" cy="3200400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1500" y="1943100"/>
            <a:ext cx="342900" cy="342900"/>
          </a:xfrm>
          <a:prstGeom prst="ellipse">
            <a:avLst/>
          </a:prstGeom>
          <a:solidFill>
            <a:srgbClr val="E5E7E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2028825"/>
            <a:ext cx="171450" cy="1714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28700" y="2000250"/>
            <a:ext cx="12001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普通活动供应商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71500" y="2578894"/>
            <a:ext cx="1785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💬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35819" y="2578894"/>
            <a:ext cx="15430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“你们想参访哪家公司？”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71500" y="2950369"/>
            <a:ext cx="1785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💬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835819" y="2950369"/>
            <a:ext cx="14144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“想做半天还是一天？”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71500" y="3321844"/>
            <a:ext cx="1785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💬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835819" y="3321844"/>
            <a:ext cx="15430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“要不要加一个工作坊？”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571500" y="3693319"/>
            <a:ext cx="1785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💬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835819" y="3693319"/>
            <a:ext cx="115728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“预算大概多少？”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571500" y="4286250"/>
            <a:ext cx="3657600" cy="40005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2" name="Text 18"/>
          <p:cNvSpPr/>
          <p:nvPr/>
        </p:nvSpPr>
        <p:spPr>
          <a:xfrm>
            <a:off x="685800" y="4400550"/>
            <a:ext cx="3429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聚焦于 </a:t>
            </a:r>
            <a:r>
              <a:rPr lang="en-US" sz="800" b="1" dirty="0">
                <a:solidFill>
                  <a:srgbClr val="1F2937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活动执行 (Event Logistics)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4686300" y="1714500"/>
            <a:ext cx="4114800" cy="3200400"/>
          </a:xfrm>
          <a:prstGeom prst="rect">
            <a:avLst/>
          </a:prstGeom>
          <a:solidFill>
            <a:srgbClr val="EFF6FF"/>
          </a:solidFill>
          <a:ln w="9144">
            <a:solidFill>
              <a:srgbClr val="BFDBFE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914900" y="1943100"/>
            <a:ext cx="342900" cy="342900"/>
          </a:xfrm>
          <a:prstGeom prst="ellipse">
            <a:avLst/>
          </a:prstGeom>
          <a:solidFill>
            <a:srgbClr val="004A8F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25" y="2028825"/>
            <a:ext cx="171450" cy="17145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372100" y="2000250"/>
            <a:ext cx="166092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004A8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咨询式伙伴 (Empact)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914900" y="2578894"/>
            <a:ext cx="1785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4A8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5179219" y="2578894"/>
            <a:ext cx="18466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004A8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“这次 AI 月真正要改变什么？”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4914900" y="2950369"/>
            <a:ext cx="1785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4A8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5179219" y="2950369"/>
            <a:ext cx="275391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004A8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“高管、HR、业务、员工分别承担什么角色？”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4914900" y="3321844"/>
            <a:ext cx="1785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4A8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5179219" y="3321844"/>
            <a:ext cx="271819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004A8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“AI 月之后，组织里要留下什么能力或机制？”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4914900" y="3693319"/>
            <a:ext cx="1785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4A8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5179219" y="3693319"/>
            <a:ext cx="281106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004A8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“哪些事情 HR 可推动，哪些需业务高层赞助？”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4914900" y="4286250"/>
            <a:ext cx="3657600" cy="400050"/>
          </a:xfrm>
          <a:prstGeom prst="rect">
            <a:avLst/>
          </a:prstGeom>
          <a:solidFill>
            <a:srgbClr val="004A8F"/>
          </a:solidFill>
          <a:ln/>
        </p:spPr>
      </p:sp>
      <p:sp>
        <p:nvSpPr>
          <p:cNvPr id="36" name="Text 31"/>
          <p:cNvSpPr/>
          <p:nvPr/>
        </p:nvSpPr>
        <p:spPr>
          <a:xfrm>
            <a:off x="5029200" y="4400550"/>
            <a:ext cx="3429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聚焦于 </a:t>
            </a:r>
            <a:r>
              <a:rPr lang="en-US" sz="800" b="1" dirty="0">
                <a:solidFill>
                  <a:srgbClr val="FDE047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变革架构设计 (Change Architecture)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2732484" cy="300038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1050" spc="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AI 转型框架：识别组织所处的象限与边界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71500" y="742950"/>
            <a:ext cx="8001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思考 AI 的应用深度与价值坐标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71500" y="1374446"/>
            <a:ext cx="8001000" cy="2400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374446"/>
            <a:ext cx="1200150" cy="39290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374446"/>
            <a:ext cx="1200150" cy="392906"/>
          </a:xfrm>
          <a:prstGeom prst="rect">
            <a:avLst/>
          </a:prstGeom>
          <a:noFill/>
          <a:ln/>
        </p:spPr>
        <p:txBody>
          <a:bodyPr wrap="non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象限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771650" y="1374446"/>
            <a:ext cx="1600200" cy="39290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6"/>
          <p:cNvSpPr/>
          <p:nvPr/>
        </p:nvSpPr>
        <p:spPr>
          <a:xfrm>
            <a:off x="1771650" y="1374446"/>
            <a:ext cx="1600200" cy="39290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定义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371850" y="1374446"/>
            <a:ext cx="2400300" cy="39290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8"/>
          <p:cNvSpPr/>
          <p:nvPr/>
        </p:nvSpPr>
        <p:spPr>
          <a:xfrm>
            <a:off x="3371850" y="1374446"/>
            <a:ext cx="2400300" cy="39290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典型场景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772150" y="1374446"/>
            <a:ext cx="1600200" cy="39290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0"/>
          <p:cNvSpPr/>
          <p:nvPr/>
        </p:nvSpPr>
        <p:spPr>
          <a:xfrm>
            <a:off x="5772150" y="1374446"/>
            <a:ext cx="1600200" cy="39290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变革含义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372350" y="1374446"/>
            <a:ext cx="1200150" cy="39290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2"/>
          <p:cNvSpPr/>
          <p:nvPr/>
        </p:nvSpPr>
        <p:spPr>
          <a:xfrm>
            <a:off x="7372350" y="1374446"/>
            <a:ext cx="1200150" cy="392906"/>
          </a:xfrm>
          <a:prstGeom prst="rect">
            <a:avLst/>
          </a:prstGeom>
          <a:noFill/>
          <a:ln/>
        </p:spPr>
        <p:txBody>
          <a:bodyPr wrap="non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HR可推动程度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85800" y="1881653"/>
            <a:ext cx="739378" cy="207169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1881653"/>
            <a:ext cx="739378" cy="207169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Q1 个人+内部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771650" y="1767353"/>
            <a:ext cx="1600200" cy="553641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员工个人办公效率提升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371850" y="1767353"/>
            <a:ext cx="2400300" cy="553641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写PPT / 文档 / 会议纪要 / 资料整理 / 报销辅助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772150" y="1767353"/>
            <a:ext cx="1600200" cy="553641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多数企业当前所处阶段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486650" y="1892368"/>
            <a:ext cx="107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2D374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高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71500" y="2320993"/>
            <a:ext cx="8001000" cy="48577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3" name="Shape 20"/>
          <p:cNvSpPr/>
          <p:nvPr/>
        </p:nvSpPr>
        <p:spPr>
          <a:xfrm>
            <a:off x="685800" y="2438865"/>
            <a:ext cx="757238" cy="207169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2438865"/>
            <a:ext cx="757238" cy="207169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Q2 机构+内部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771650" y="2320993"/>
            <a:ext cx="1600200" cy="485775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部门级流程优化与知识沉淀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371850" y="2320993"/>
            <a:ext cx="2400300" cy="485775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财务审批 / HR问答 / 知识库 / 流程自动化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772150" y="2320993"/>
            <a:ext cx="1600200" cy="485775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流程创新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486650" y="2449581"/>
            <a:ext cx="2143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2D374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中高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685800" y="2924640"/>
            <a:ext cx="757238" cy="207169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30" name="Text 27"/>
          <p:cNvSpPr/>
          <p:nvPr/>
        </p:nvSpPr>
        <p:spPr>
          <a:xfrm>
            <a:off x="685800" y="2924640"/>
            <a:ext cx="757238" cy="207169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Q3 机构+外部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1771650" y="2806768"/>
            <a:ext cx="1600200" cy="485775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面向客户的智能化服务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371850" y="2806768"/>
            <a:ext cx="2400300" cy="485775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客户服务机器人 / 智能订房 / 客户旅程设计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772150" y="2806768"/>
            <a:ext cx="1600200" cy="485775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产品级创新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486650" y="2935356"/>
            <a:ext cx="107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2D374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中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571500" y="3292543"/>
            <a:ext cx="8001000" cy="48220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6" name="Shape 33"/>
          <p:cNvSpPr/>
          <p:nvPr/>
        </p:nvSpPr>
        <p:spPr>
          <a:xfrm>
            <a:off x="685800" y="3410415"/>
            <a:ext cx="760809" cy="207169"/>
          </a:xfrm>
          <a:prstGeom prst="rect">
            <a:avLst/>
          </a:prstGeom>
          <a:solidFill>
            <a:srgbClr val="FFFAF0"/>
          </a:solidFill>
          <a:ln/>
        </p:spPr>
      </p:sp>
      <p:sp>
        <p:nvSpPr>
          <p:cNvPr id="37" name="Text 34"/>
          <p:cNvSpPr/>
          <p:nvPr/>
        </p:nvSpPr>
        <p:spPr>
          <a:xfrm>
            <a:off x="685800" y="3410415"/>
            <a:ext cx="760809" cy="207169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D6B2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Q4 个人+外部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1771650" y="3292543"/>
            <a:ext cx="1600200" cy="482203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赋能外部生态与社会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3371850" y="3292543"/>
            <a:ext cx="2400300" cy="482203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公益组织帮助老人 / 青年使用AI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772150" y="3292543"/>
            <a:ext cx="1600200" cy="482203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价值共创与 shared value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7486650" y="3421131"/>
            <a:ext cx="107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2D374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中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571500" y="3989059"/>
            <a:ext cx="8001000" cy="475059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3" name="Shape 40"/>
          <p:cNvSpPr/>
          <p:nvPr/>
        </p:nvSpPr>
        <p:spPr>
          <a:xfrm>
            <a:off x="571500" y="3989059"/>
            <a:ext cx="57150" cy="475059"/>
          </a:xfrm>
          <a:prstGeom prst="rect">
            <a:avLst/>
          </a:prstGeom>
          <a:solidFill>
            <a:srgbClr val="63B3ED"/>
          </a:solidFill>
          <a:ln/>
        </p:spPr>
      </p:sp>
      <p:sp>
        <p:nvSpPr>
          <p:cNvPr id="44" name="Text 41"/>
          <p:cNvSpPr/>
          <p:nvPr/>
        </p:nvSpPr>
        <p:spPr>
          <a:xfrm>
            <a:off x="785813" y="4131934"/>
            <a:ext cx="757237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💡 讨论与思考：</a:t>
            </a:r>
            <a:r>
              <a:rPr lang="en-US" sz="950" dirty="0">
                <a:solidFill>
                  <a:srgbClr val="63B3E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在 8 月的 AI 月活动中，聚焦在哪个象限？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4A8F"/>
          </a:solidFill>
          <a:ln/>
        </p:spPr>
      </p:sp>
      <p:sp>
        <p:nvSpPr>
          <p:cNvPr id="4" name="Text 1"/>
          <p:cNvSpPr/>
          <p:nvPr/>
        </p:nvSpPr>
        <p:spPr>
          <a:xfrm>
            <a:off x="342900" y="228600"/>
            <a:ext cx="400585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spc="1" kern="0" dirty="0">
                <a:solidFill>
                  <a:srgbClr val="BFDBF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AI APPLICATION FRAMEWORK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42900" y="428625"/>
            <a:ext cx="400585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b="1" spc="1" kern="0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AI 应用四象限：定位凯德AI月的核心聚焦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0" y="914400"/>
            <a:ext cx="9144000" cy="42291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" name="Shape 4"/>
          <p:cNvSpPr/>
          <p:nvPr/>
        </p:nvSpPr>
        <p:spPr>
          <a:xfrm>
            <a:off x="1371600" y="1228725"/>
            <a:ext cx="6400800" cy="3429000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986213" y="1343025"/>
            <a:ext cx="1171575" cy="200025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9" name="Text 6"/>
          <p:cNvSpPr/>
          <p:nvPr/>
        </p:nvSpPr>
        <p:spPr>
          <a:xfrm>
            <a:off x="3986213" y="1343025"/>
            <a:ext cx="1171575" cy="200025"/>
          </a:xfrm>
          <a:prstGeom prst="rect">
            <a:avLst/>
          </a:prstGeom>
          <a:noFill/>
          <a:ln/>
        </p:spPr>
        <p:txBody>
          <a:bodyPr wrap="none" lIns="136017" tIns="34036" rIns="136017" bIns="34036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00" b="1" dirty="0">
                <a:solidFill>
                  <a:srgbClr val="004A8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机构 (Organization)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4055864" y="4343400"/>
            <a:ext cx="1032272" cy="200025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11" name="Text 8"/>
          <p:cNvSpPr/>
          <p:nvPr/>
        </p:nvSpPr>
        <p:spPr>
          <a:xfrm>
            <a:off x="4055864" y="4343400"/>
            <a:ext cx="1032272" cy="200025"/>
          </a:xfrm>
          <a:prstGeom prst="rect">
            <a:avLst/>
          </a:prstGeom>
          <a:noFill/>
          <a:ln/>
        </p:spPr>
        <p:txBody>
          <a:bodyPr wrap="none" lIns="136017" tIns="34036" rIns="136017" bIns="34036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00" b="1" dirty="0">
                <a:solidFill>
                  <a:srgbClr val="004A8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个人 (Individual)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 rot="-5400000">
            <a:off x="1485900" y="2843213"/>
            <a:ext cx="921544" cy="200025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13" name="Text 10"/>
          <p:cNvSpPr/>
          <p:nvPr/>
        </p:nvSpPr>
        <p:spPr>
          <a:xfrm rot="-5400000">
            <a:off x="1485900" y="2843213"/>
            <a:ext cx="921544" cy="200025"/>
          </a:xfrm>
          <a:prstGeom prst="rect">
            <a:avLst/>
          </a:prstGeom>
          <a:noFill/>
          <a:ln/>
        </p:spPr>
        <p:txBody>
          <a:bodyPr wrap="none" lIns="136017" tIns="34036" rIns="136017" bIns="34036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00" b="1" dirty="0">
                <a:solidFill>
                  <a:srgbClr val="004A8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内部 (Internal)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 rot="5400000">
            <a:off x="6722269" y="2843213"/>
            <a:ext cx="935831" cy="200025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15" name="Text 12"/>
          <p:cNvSpPr/>
          <p:nvPr/>
        </p:nvSpPr>
        <p:spPr>
          <a:xfrm rot="5400000">
            <a:off x="6722269" y="2843213"/>
            <a:ext cx="935831" cy="200025"/>
          </a:xfrm>
          <a:prstGeom prst="rect">
            <a:avLst/>
          </a:prstGeom>
          <a:noFill/>
          <a:ln/>
        </p:spPr>
        <p:txBody>
          <a:bodyPr wrap="none" lIns="136017" tIns="34036" rIns="136017" bIns="34036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00" b="1" dirty="0">
                <a:solidFill>
                  <a:srgbClr val="004A8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外部 (External)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2925366" y="1628775"/>
            <a:ext cx="285750" cy="285750"/>
          </a:xfrm>
          <a:prstGeom prst="ellipse">
            <a:avLst/>
          </a:prstGeom>
          <a:solidFill>
            <a:srgbClr val="004A8F"/>
          </a:solidFill>
          <a:ln/>
        </p:spPr>
      </p:sp>
      <p:sp>
        <p:nvSpPr>
          <p:cNvPr id="17" name="Text 14"/>
          <p:cNvSpPr/>
          <p:nvPr/>
        </p:nvSpPr>
        <p:spPr>
          <a:xfrm>
            <a:off x="2925366" y="1628775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24444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Q2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782491" y="2000250"/>
            <a:ext cx="571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4A8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流程重构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771650" y="2257425"/>
            <a:ext cx="2593181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部门/集团统筹，将 AI 深度嵌入标准化流程，实现规模化降本增效。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2516386" y="2668191"/>
            <a:ext cx="1103709" cy="17145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1" name="Text 18"/>
          <p:cNvSpPr/>
          <p:nvPr/>
        </p:nvSpPr>
        <p:spPr>
          <a:xfrm>
            <a:off x="2516386" y="2668191"/>
            <a:ext cx="1103709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600" b="1" dirty="0">
                <a:solidFill>
                  <a:srgbClr val="2563E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责任主体：部门负责人+IT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5932884" y="1628775"/>
            <a:ext cx="285750" cy="285750"/>
          </a:xfrm>
          <a:prstGeom prst="ellipse">
            <a:avLst/>
          </a:prstGeom>
          <a:solidFill>
            <a:srgbClr val="004A8F"/>
          </a:solidFill>
          <a:ln/>
        </p:spPr>
      </p:sp>
      <p:sp>
        <p:nvSpPr>
          <p:cNvPr id="23" name="Text 20"/>
          <p:cNvSpPr/>
          <p:nvPr/>
        </p:nvSpPr>
        <p:spPr>
          <a:xfrm>
            <a:off x="5932884" y="1628775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24444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Q3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790009" y="2000250"/>
            <a:ext cx="571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4A8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价值升级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779169" y="2257425"/>
            <a:ext cx="2593181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利用 AI 改变客户服务模式，直接触及客户体验，影响销售转化。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5522119" y="2668191"/>
            <a:ext cx="1107281" cy="17145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7" name="Text 24"/>
          <p:cNvSpPr/>
          <p:nvPr/>
        </p:nvSpPr>
        <p:spPr>
          <a:xfrm>
            <a:off x="5522119" y="2668191"/>
            <a:ext cx="1107281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600" b="1" dirty="0">
                <a:solidFill>
                  <a:srgbClr val="2563E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责任主体：业务线 Leader</a:t>
            </a:r>
            <a:endParaRPr lang="en-US" sz="600" dirty="0"/>
          </a:p>
        </p:txBody>
      </p:sp>
      <p:sp>
        <p:nvSpPr>
          <p:cNvPr id="28" name="Shape 25"/>
          <p:cNvSpPr/>
          <p:nvPr/>
        </p:nvSpPr>
        <p:spPr>
          <a:xfrm>
            <a:off x="2925366" y="3253978"/>
            <a:ext cx="285750" cy="28575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29" name="Text 26"/>
          <p:cNvSpPr/>
          <p:nvPr/>
        </p:nvSpPr>
        <p:spPr>
          <a:xfrm>
            <a:off x="2925366" y="3253978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24444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Q1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782491" y="3625453"/>
            <a:ext cx="571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374151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个体提效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771650" y="3882628"/>
            <a:ext cx="2593181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员工自发探索，利用 AI 处理日常重复性工作，不改变现有业务流程。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2539603" y="4293394"/>
            <a:ext cx="1057275" cy="17145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Text 30"/>
          <p:cNvSpPr/>
          <p:nvPr/>
        </p:nvSpPr>
        <p:spPr>
          <a:xfrm>
            <a:off x="2539603" y="4293394"/>
            <a:ext cx="1057275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600" b="1" dirty="0">
                <a:solidFill>
                  <a:srgbClr val="4B55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责任主体：员工个人+HR</a:t>
            </a:r>
            <a:endParaRPr lang="en-US" sz="600" dirty="0"/>
          </a:p>
        </p:txBody>
      </p:sp>
      <p:sp>
        <p:nvSpPr>
          <p:cNvPr id="34" name="Shape 31"/>
          <p:cNvSpPr/>
          <p:nvPr/>
        </p:nvSpPr>
        <p:spPr>
          <a:xfrm>
            <a:off x="5932884" y="3253978"/>
            <a:ext cx="285750" cy="28575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5" name="Text 32"/>
          <p:cNvSpPr/>
          <p:nvPr/>
        </p:nvSpPr>
        <p:spPr>
          <a:xfrm>
            <a:off x="5932884" y="3253978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24444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Q4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790009" y="3625453"/>
            <a:ext cx="571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价值共创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779169" y="3882628"/>
            <a:ext cx="2593181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连接外部生态，创造全新商业模式，实现商业价值与社会价值双赢。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589984" y="4293394"/>
            <a:ext cx="971550" cy="171450"/>
          </a:xfrm>
          <a:prstGeom prst="rect">
            <a:avLst/>
          </a:prstGeom>
          <a:solidFill>
            <a:srgbClr val="FFEDD5"/>
          </a:solidFill>
          <a:ln/>
        </p:spPr>
      </p:sp>
      <p:sp>
        <p:nvSpPr>
          <p:cNvPr id="39" name="Text 36"/>
          <p:cNvSpPr/>
          <p:nvPr/>
        </p:nvSpPr>
        <p:spPr>
          <a:xfrm>
            <a:off x="5589984" y="4293394"/>
            <a:ext cx="971550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600" b="1" dirty="0">
                <a:solidFill>
                  <a:srgbClr val="EA580C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责任主体：高层决策者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92931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4A8F"/>
          </a:solidFill>
          <a:ln/>
        </p:spPr>
      </p:sp>
      <p:sp>
        <p:nvSpPr>
          <p:cNvPr id="4" name="Text 1"/>
          <p:cNvSpPr/>
          <p:nvPr/>
        </p:nvSpPr>
        <p:spPr>
          <a:xfrm>
            <a:off x="342900" y="228600"/>
            <a:ext cx="45023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spc="1" kern="0" dirty="0">
                <a:solidFill>
                  <a:srgbClr val="BFDBF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CONSULTING FRAMEWORK : CASES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42900" y="428625"/>
            <a:ext cx="450234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b="1" spc="1" kern="0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四象限标杆案例：行业领先企业的 AI 实践路径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0" y="914400"/>
            <a:ext cx="9144000" cy="5014913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" name="Shape 4"/>
          <p:cNvSpPr/>
          <p:nvPr/>
        </p:nvSpPr>
        <p:spPr>
          <a:xfrm>
            <a:off x="342900" y="1143000"/>
            <a:ext cx="4143375" cy="21931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342900" y="1143000"/>
            <a:ext cx="4143375" cy="28575"/>
          </a:xfrm>
          <a:prstGeom prst="rect">
            <a:avLst/>
          </a:prstGeom>
          <a:solidFill>
            <a:srgbClr val="004A8F"/>
          </a:solidFill>
          <a:ln/>
        </p:spPr>
      </p:sp>
      <p:sp>
        <p:nvSpPr>
          <p:cNvPr id="9" name="Shape 6"/>
          <p:cNvSpPr/>
          <p:nvPr/>
        </p:nvSpPr>
        <p:spPr>
          <a:xfrm>
            <a:off x="514350" y="1314450"/>
            <a:ext cx="228600" cy="228600"/>
          </a:xfrm>
          <a:prstGeom prst="ellipse">
            <a:avLst/>
          </a:prstGeom>
          <a:solidFill>
            <a:srgbClr val="004A8F"/>
          </a:solidFill>
          <a:ln/>
        </p:spPr>
      </p:sp>
      <p:sp>
        <p:nvSpPr>
          <p:cNvPr id="10" name="Text 7"/>
          <p:cNvSpPr/>
          <p:nvPr/>
        </p:nvSpPr>
        <p:spPr>
          <a:xfrm>
            <a:off x="514350" y="13144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14286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Q2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828675" y="1328738"/>
            <a:ext cx="168949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4A8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流程重构：海尔智家 / 万科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14350" y="1657350"/>
            <a:ext cx="3800475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4B55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核心痛点：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大型集团跨部门协同效率低，可研测算与研发周期过长。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514350" y="1934170"/>
            <a:ext cx="3800475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4B55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AI 实践：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海尔打造覆盖全员的“超级智能体”平台；万科投资部门引入 AI 测算智能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体，自动拉取土地、竞品及政策数据进行可研分析。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514350" y="2373511"/>
            <a:ext cx="3800475" cy="600075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14350" y="2373511"/>
            <a:ext cx="14288" cy="600075"/>
          </a:xfrm>
          <a:prstGeom prst="rect">
            <a:avLst/>
          </a:prstGeom>
          <a:solidFill>
            <a:srgbClr val="004A8F"/>
          </a:solidFill>
          <a:ln/>
        </p:spPr>
      </p:sp>
      <p:sp>
        <p:nvSpPr>
          <p:cNvPr id="16" name="Text 13"/>
          <p:cNvSpPr/>
          <p:nvPr/>
        </p:nvSpPr>
        <p:spPr>
          <a:xfrm>
            <a:off x="600075" y="2459236"/>
            <a:ext cx="36290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00" b="1" dirty="0">
                <a:solidFill>
                  <a:srgbClr val="004A8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商业影响：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600075" y="2602111"/>
            <a:ext cx="36290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海尔研发效率提升 90%，采购成本降低 10%；万科可研报告撰写从 2 周压缩至 3 天。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657725" y="1143000"/>
            <a:ext cx="4143375" cy="21931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4657725" y="1143000"/>
            <a:ext cx="4143375" cy="28575"/>
          </a:xfrm>
          <a:prstGeom prst="rect">
            <a:avLst/>
          </a:prstGeom>
          <a:solidFill>
            <a:srgbClr val="004A8F"/>
          </a:solidFill>
          <a:ln/>
        </p:spPr>
      </p:sp>
      <p:sp>
        <p:nvSpPr>
          <p:cNvPr id="20" name="Shape 17"/>
          <p:cNvSpPr/>
          <p:nvPr/>
        </p:nvSpPr>
        <p:spPr>
          <a:xfrm>
            <a:off x="4829175" y="1314450"/>
            <a:ext cx="228600" cy="228600"/>
          </a:xfrm>
          <a:prstGeom prst="ellipse">
            <a:avLst/>
          </a:prstGeom>
          <a:solidFill>
            <a:srgbClr val="004A8F"/>
          </a:solidFill>
          <a:ln/>
        </p:spPr>
      </p:sp>
      <p:sp>
        <p:nvSpPr>
          <p:cNvPr id="21" name="Text 18"/>
          <p:cNvSpPr/>
          <p:nvPr/>
        </p:nvSpPr>
        <p:spPr>
          <a:xfrm>
            <a:off x="4829175" y="13144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14286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Q3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143500" y="1328738"/>
            <a:ext cx="1571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4A8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价值升级：罗莱超柔床品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829175" y="1657350"/>
            <a:ext cx="3800475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4B55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核心痛点：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全国数千家门店导购形象管理困难，传统“事后纠错”的巡店模式导致员工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抵触，客户体验难以保证。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4829175" y="2096691"/>
            <a:ext cx="3800475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4B55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AI 实践：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 6000 余名导购配备“AI 魔镜”系统。导购上传自拍后，系统 1 秒内完成仪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容仪表智能识别与打分。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4829175" y="2536031"/>
            <a:ext cx="3800475" cy="600075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6" name="Shape 23"/>
          <p:cNvSpPr/>
          <p:nvPr/>
        </p:nvSpPr>
        <p:spPr>
          <a:xfrm>
            <a:off x="4829175" y="2536031"/>
            <a:ext cx="14288" cy="600075"/>
          </a:xfrm>
          <a:prstGeom prst="rect">
            <a:avLst/>
          </a:prstGeom>
          <a:solidFill>
            <a:srgbClr val="004A8F"/>
          </a:solidFill>
          <a:ln/>
        </p:spPr>
      </p:sp>
      <p:sp>
        <p:nvSpPr>
          <p:cNvPr id="27" name="Text 24"/>
          <p:cNvSpPr/>
          <p:nvPr/>
        </p:nvSpPr>
        <p:spPr>
          <a:xfrm>
            <a:off x="4914900" y="2621756"/>
            <a:ext cx="36290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00" b="1" dirty="0">
                <a:solidFill>
                  <a:srgbClr val="004A8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商业影响：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4914900" y="2764631"/>
            <a:ext cx="36290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管理方式从“纠错”变为“即时赞美”，门店神秘访客评分提升 63.7%，直接拉动销售转化。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342900" y="3479006"/>
            <a:ext cx="4143375" cy="21931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7"/>
          <p:cNvSpPr/>
          <p:nvPr/>
        </p:nvSpPr>
        <p:spPr>
          <a:xfrm>
            <a:off x="342900" y="3479006"/>
            <a:ext cx="4143375" cy="28575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1" name="Shape 28"/>
          <p:cNvSpPr/>
          <p:nvPr/>
        </p:nvSpPr>
        <p:spPr>
          <a:xfrm>
            <a:off x="514350" y="3650456"/>
            <a:ext cx="228600" cy="22860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32" name="Text 29"/>
          <p:cNvSpPr/>
          <p:nvPr/>
        </p:nvSpPr>
        <p:spPr>
          <a:xfrm>
            <a:off x="514350" y="36504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14286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Q1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28675" y="3664744"/>
            <a:ext cx="211812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个体提效：内江鸿曲轴 / 宝武集团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14350" y="3993356"/>
            <a:ext cx="3800475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4B55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核心痛点：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基层员工深陷繁杂的数据核算与表格整理，缺乏时间进行高价值分析。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514350" y="4270177"/>
            <a:ext cx="3800475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4B55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AI 实践：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会计员工自发引入 AI 创建智能机器人，自动串联三十多张表格；宝武员工自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主研发薪酬自动化检核系统。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514350" y="4709517"/>
            <a:ext cx="3800475" cy="4572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7" name="Shape 34"/>
          <p:cNvSpPr/>
          <p:nvPr/>
        </p:nvSpPr>
        <p:spPr>
          <a:xfrm>
            <a:off x="514350" y="4709517"/>
            <a:ext cx="14288" cy="45720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8" name="Text 35"/>
          <p:cNvSpPr/>
          <p:nvPr/>
        </p:nvSpPr>
        <p:spPr>
          <a:xfrm>
            <a:off x="600075" y="4795242"/>
            <a:ext cx="36290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00" b="1" dirty="0">
                <a:solidFill>
                  <a:srgbClr val="374151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商业影响：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600075" y="4938117"/>
            <a:ext cx="36290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承担个人 80% 工作量，每年为单体公司节约核算成本上百万元。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4657725" y="3479006"/>
            <a:ext cx="4143375" cy="21931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8"/>
          <p:cNvSpPr/>
          <p:nvPr/>
        </p:nvSpPr>
        <p:spPr>
          <a:xfrm>
            <a:off x="4657725" y="3479006"/>
            <a:ext cx="4143375" cy="28575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2" name="Shape 39"/>
          <p:cNvSpPr/>
          <p:nvPr/>
        </p:nvSpPr>
        <p:spPr>
          <a:xfrm>
            <a:off x="4829175" y="3650456"/>
            <a:ext cx="228600" cy="2286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3" name="Text 40"/>
          <p:cNvSpPr/>
          <p:nvPr/>
        </p:nvSpPr>
        <p:spPr>
          <a:xfrm>
            <a:off x="4829175" y="36504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14286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Q4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5143500" y="3664744"/>
            <a:ext cx="183237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价值共创：南丰集团 / 周大福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4829175" y="3993356"/>
            <a:ext cx="3800475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4B55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核心痛点：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商业地产与零售巨头面临严峻的 ESG 减排压力，且环保投入通常被视为纯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成本中心。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4829175" y="4432697"/>
            <a:ext cx="3800475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4B55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AI 实践：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南丰设立共享价值部门，用 AI 量化租户节能减排数据并给予租金减免；周大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福利用数据洞察转向黄金回收业务。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4829175" y="4872038"/>
            <a:ext cx="3800475" cy="600075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48" name="Shape 45"/>
          <p:cNvSpPr/>
          <p:nvPr/>
        </p:nvSpPr>
        <p:spPr>
          <a:xfrm>
            <a:off x="4829175" y="4872038"/>
            <a:ext cx="14288" cy="600075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9" name="Text 46"/>
          <p:cNvSpPr/>
          <p:nvPr/>
        </p:nvSpPr>
        <p:spPr>
          <a:xfrm>
            <a:off x="4914900" y="4957763"/>
            <a:ext cx="36290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00" b="1" dirty="0">
                <a:solidFill>
                  <a:srgbClr val="EA580C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商业影响：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4914900" y="5100638"/>
            <a:ext cx="36290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南丰凭绿色数据争取低息贷款实现双赢；周大福构建“商业盈利+环保回收”双闭环护城河。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4A8F"/>
          </a:solidFill>
          <a:ln/>
        </p:spPr>
      </p:sp>
      <p:sp>
        <p:nvSpPr>
          <p:cNvPr id="4" name="Text 1"/>
          <p:cNvSpPr/>
          <p:nvPr/>
        </p:nvSpPr>
        <p:spPr>
          <a:xfrm>
            <a:off x="342900" y="228600"/>
            <a:ext cx="438090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spc="1" kern="0" dirty="0">
                <a:solidFill>
                  <a:srgbClr val="BFDBF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ROLE POSITIONING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42900" y="428625"/>
            <a:ext cx="438090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b="1" spc="1" kern="0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HR 的角色定位：AI 采纳架构师与组织激活者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0" y="914400"/>
            <a:ext cx="9144000" cy="42291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" name="Shape 4"/>
          <p:cNvSpPr/>
          <p:nvPr/>
        </p:nvSpPr>
        <p:spPr>
          <a:xfrm>
            <a:off x="342900" y="1143000"/>
            <a:ext cx="8458200" cy="1028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342900" y="1143000"/>
            <a:ext cx="28575" cy="10287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6"/>
          <p:cNvSpPr/>
          <p:nvPr/>
        </p:nvSpPr>
        <p:spPr>
          <a:xfrm>
            <a:off x="514350" y="1314450"/>
            <a:ext cx="8115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004A8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HR is the architect of adoption, not the owner of business transformation.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14350" y="1600200"/>
            <a:ext cx="8115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HR 不是业务转型的唯一 Owner，但可以成为 </a:t>
            </a:r>
            <a:r>
              <a:rPr lang="en-US" sz="900" b="1" dirty="0">
                <a:solidFill>
                  <a:srgbClr val="EA580C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AI Adoption (采纳) 的架构师</a:t>
            </a:r>
            <a:r>
              <a:rPr lang="en-US" sz="950" dirty="0">
                <a:solidFill>
                  <a:srgbClr val="37415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。HR 的核心价值在于设计机制，让个体尝试被看见，让部门实践被</a:t>
            </a:r>
            <a:r>
              <a:rPr lang="en-US" sz="950" dirty="0">
                <a:solidFill>
                  <a:srgbClr val="37415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沉淀，让高层看见下一步可以投入的场景。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42900" y="2400300"/>
            <a:ext cx="1985963" cy="2514600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07281" y="2571750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13" name="Text 10"/>
          <p:cNvSpPr/>
          <p:nvPr/>
        </p:nvSpPr>
        <p:spPr>
          <a:xfrm>
            <a:off x="1107281" y="25717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🧭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01898" y="3143250"/>
            <a:ext cx="86796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4A8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Sensemaker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14350" y="3371850"/>
            <a:ext cx="1643063" cy="2928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514350" y="3657600"/>
            <a:ext cx="164306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7" name="Text 14"/>
          <p:cNvSpPr/>
          <p:nvPr/>
        </p:nvSpPr>
        <p:spPr>
          <a:xfrm>
            <a:off x="514350" y="3371850"/>
            <a:ext cx="1643063" cy="292894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意义解释者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14350" y="3771900"/>
            <a:ext cx="1643063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帮助员工跨越概念焦虑，清晰理解：</a:t>
            </a:r>
            <a:r>
              <a:rPr lang="en-US" sz="700" b="1" dirty="0">
                <a:solidFill>
                  <a:srgbClr val="4B55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为什么凯德现在要谈 AI？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AI 如何具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体改变我们的日常工作、流程与客户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体验。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2500313" y="2400300"/>
            <a:ext cx="1985963" cy="2514600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64694" y="2571750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21" name="Text 18"/>
          <p:cNvSpPr/>
          <p:nvPr/>
        </p:nvSpPr>
        <p:spPr>
          <a:xfrm>
            <a:off x="3264694" y="25717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🛠️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861072" y="3143250"/>
            <a:ext cx="12644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4A8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Capability Builder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671763" y="3371850"/>
            <a:ext cx="1643063" cy="2928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2671763" y="3657600"/>
            <a:ext cx="164306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5" name="Text 22"/>
          <p:cNvSpPr/>
          <p:nvPr/>
        </p:nvSpPr>
        <p:spPr>
          <a:xfrm>
            <a:off x="2671763" y="3371850"/>
            <a:ext cx="1643063" cy="292894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能力建设者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2671763" y="3771900"/>
            <a:ext cx="1643063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提供“弹药库”。通过组织外部标杆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分享、内部实战培训、提供 Coach 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支持和实用工具包，</a:t>
            </a:r>
            <a:r>
              <a:rPr lang="en-US" sz="700" b="1" dirty="0">
                <a:solidFill>
                  <a:srgbClr val="4B55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让员工有能力迈出尝试的第一步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4657725" y="2400300"/>
            <a:ext cx="1985963" cy="2514600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22106" y="2571750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29" name="Text 26"/>
          <p:cNvSpPr/>
          <p:nvPr/>
        </p:nvSpPr>
        <p:spPr>
          <a:xfrm>
            <a:off x="5422106" y="25717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🔗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286375" y="3143250"/>
            <a:ext cx="7286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4A8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Connector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829175" y="3371850"/>
            <a:ext cx="1643063" cy="2928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4829175" y="3657600"/>
            <a:ext cx="164306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3" name="Text 30"/>
          <p:cNvSpPr/>
          <p:nvPr/>
        </p:nvSpPr>
        <p:spPr>
          <a:xfrm>
            <a:off x="4829175" y="3371850"/>
            <a:ext cx="1643063" cy="292894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资源连接者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829175" y="3771900"/>
            <a:ext cx="1643063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打破部门墙。精准连接外部前沿案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例、内部 AI 达人、业务部门痛点，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以及 IT/合规部门的资源，</a:t>
            </a:r>
            <a:r>
              <a:rPr lang="en-US" sz="700" b="1" dirty="0">
                <a:solidFill>
                  <a:srgbClr val="4B55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形成协同合力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6815138" y="2400300"/>
            <a:ext cx="1985963" cy="2514600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579519" y="2571750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37" name="Text 34"/>
          <p:cNvSpPr/>
          <p:nvPr/>
        </p:nvSpPr>
        <p:spPr>
          <a:xfrm>
            <a:off x="7579519" y="25717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📐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150894" y="3143250"/>
            <a:ext cx="13144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4A8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Adoption Architect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986588" y="3371850"/>
            <a:ext cx="1643063" cy="2928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6986588" y="3657600"/>
            <a:ext cx="164306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1" name="Text 38"/>
          <p:cNvSpPr/>
          <p:nvPr/>
        </p:nvSpPr>
        <p:spPr>
          <a:xfrm>
            <a:off x="6986588" y="3371850"/>
            <a:ext cx="1643063" cy="292894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采纳机制设计者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6986588" y="3771900"/>
            <a:ext cx="1643063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设计闭环。从真人图书馆到 AI 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Attempt 实验，从 Token 激励到案例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沉淀，</a:t>
            </a:r>
            <a:r>
              <a:rPr lang="en-US" sz="700" b="1" dirty="0">
                <a:solidFill>
                  <a:srgbClr val="4B55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打造让创新持续发生的系统机制</a:t>
            </a:r>
            <a:r>
              <a:rPr lang="en-US" sz="7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4A8F"/>
          </a:solidFill>
          <a:ln/>
        </p:spPr>
      </p:sp>
      <p:sp>
        <p:nvSpPr>
          <p:cNvPr id="4" name="Text 1"/>
          <p:cNvSpPr/>
          <p:nvPr/>
        </p:nvSpPr>
        <p:spPr>
          <a:xfrm>
            <a:off x="342900" y="228600"/>
            <a:ext cx="446305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spc="1" kern="0" dirty="0">
                <a:solidFill>
                  <a:srgbClr val="BFDBF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CHANGE ARCHITECTURE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42900" y="428625"/>
            <a:ext cx="446305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b="1" spc="1" kern="0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变革路径：从启发到嵌入的 Change Journey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0" y="914400"/>
            <a:ext cx="9144000" cy="42291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" name="Text 4"/>
          <p:cNvSpPr/>
          <p:nvPr/>
        </p:nvSpPr>
        <p:spPr>
          <a:xfrm>
            <a:off x="3423642" y="1803797"/>
            <a:ext cx="46791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月激发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891558" y="1803797"/>
            <a:ext cx="11430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4A8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“组织如何发生改变”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034558" y="1803797"/>
            <a:ext cx="6858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的完整旅程。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382441" y="1975247"/>
            <a:ext cx="437911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通过外部启发、内部互学、轻量尝试和成果沉淀，推动 AI 从个人兴趣转化为组织能力。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42900" y="2428875"/>
            <a:ext cx="2007394" cy="18288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2" name="Text 9"/>
          <p:cNvSpPr/>
          <p:nvPr/>
        </p:nvSpPr>
        <p:spPr>
          <a:xfrm>
            <a:off x="1714500" y="2543175"/>
            <a:ext cx="40719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BFDBFE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01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571500" y="2771775"/>
            <a:ext cx="1550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004A8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Inspire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1500" y="3028950"/>
            <a:ext cx="15501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1E40A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启发 · 认知破局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71500" y="3343275"/>
            <a:ext cx="155019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让大家看见 AI 不是遥远概念，而是已经实实在在改变了组织效率、业务流程、客户体验和商业价值。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71500" y="4066580"/>
            <a:ext cx="155019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600" b="1" dirty="0">
                <a:solidFill>
                  <a:srgbClr val="1E40A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关键动作：高管参访、前沿案例分享</a:t>
            </a:r>
            <a:endParaRPr lang="en-US" sz="600" dirty="0"/>
          </a:p>
        </p:txBody>
      </p:sp>
      <p:sp>
        <p:nvSpPr>
          <p:cNvPr id="17" name="Shape 14"/>
          <p:cNvSpPr/>
          <p:nvPr/>
        </p:nvSpPr>
        <p:spPr>
          <a:xfrm>
            <a:off x="2378869" y="2428875"/>
            <a:ext cx="2121694" cy="1828800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18" name="Text 15"/>
          <p:cNvSpPr/>
          <p:nvPr/>
        </p:nvSpPr>
        <p:spPr>
          <a:xfrm>
            <a:off x="3864769" y="2543175"/>
            <a:ext cx="40719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93C5FD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02</a:t>
            </a:r>
            <a:endParaRPr lang="en-US" sz="2450" dirty="0"/>
          </a:p>
        </p:txBody>
      </p:sp>
      <p:sp>
        <p:nvSpPr>
          <p:cNvPr id="19" name="Text 16"/>
          <p:cNvSpPr/>
          <p:nvPr/>
        </p:nvSpPr>
        <p:spPr>
          <a:xfrm>
            <a:off x="2721769" y="2771775"/>
            <a:ext cx="1550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004A8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Ideation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721769" y="3028950"/>
            <a:ext cx="15501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1E40A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创意 · 痛点映射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721769" y="3343275"/>
            <a:ext cx="155019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引导员工和部门负责人开始发问：“在我的具体工作和业务场景里，AI 可以用来改善什么？”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2721769" y="4066580"/>
            <a:ext cx="155019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600" b="1" dirty="0">
                <a:solidFill>
                  <a:srgbClr val="1E40A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关键动作：真人图书馆、共创工作坊</a:t>
            </a:r>
            <a:endParaRPr lang="en-US" sz="600" dirty="0"/>
          </a:p>
        </p:txBody>
      </p:sp>
      <p:sp>
        <p:nvSpPr>
          <p:cNvPr id="23" name="Shape 20"/>
          <p:cNvSpPr/>
          <p:nvPr/>
        </p:nvSpPr>
        <p:spPr>
          <a:xfrm>
            <a:off x="4529138" y="2428875"/>
            <a:ext cx="2121694" cy="1828800"/>
          </a:xfrm>
          <a:prstGeom prst="rect">
            <a:avLst/>
          </a:prstGeom>
          <a:solidFill>
            <a:srgbClr val="004A8F"/>
          </a:solidFill>
          <a:ln/>
        </p:spPr>
      </p:sp>
      <p:sp>
        <p:nvSpPr>
          <p:cNvPr id="24" name="Text 21"/>
          <p:cNvSpPr/>
          <p:nvPr/>
        </p:nvSpPr>
        <p:spPr>
          <a:xfrm>
            <a:off x="6015038" y="2543175"/>
            <a:ext cx="40719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1E40A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03</a:t>
            </a:r>
            <a:endParaRPr lang="en-US" sz="2450" dirty="0"/>
          </a:p>
        </p:txBody>
      </p:sp>
      <p:sp>
        <p:nvSpPr>
          <p:cNvPr id="25" name="Text 22"/>
          <p:cNvSpPr/>
          <p:nvPr/>
        </p:nvSpPr>
        <p:spPr>
          <a:xfrm>
            <a:off x="4872038" y="2771775"/>
            <a:ext cx="1550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Equip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872038" y="3028950"/>
            <a:ext cx="15501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BFDBF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赋能 · 工具支持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872038" y="3343275"/>
            <a:ext cx="1550194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FF6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为有意愿尝试的员工提供必要的支持：工具、Coach 指导、时间许可和组织认可，让尝试得以发生并持续。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872038" y="4229100"/>
            <a:ext cx="15501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600" b="1" dirty="0">
                <a:solidFill>
                  <a:srgbClr val="BFDBFE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关键动作：AI Attempt Lab、Token 激励</a:t>
            </a:r>
            <a:endParaRPr lang="en-US" sz="600" dirty="0"/>
          </a:p>
        </p:txBody>
      </p:sp>
      <p:sp>
        <p:nvSpPr>
          <p:cNvPr id="29" name="Shape 26"/>
          <p:cNvSpPr/>
          <p:nvPr/>
        </p:nvSpPr>
        <p:spPr>
          <a:xfrm>
            <a:off x="6679406" y="2428875"/>
            <a:ext cx="2121694" cy="1828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8165306" y="2543175"/>
            <a:ext cx="40719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A580C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04</a:t>
            </a:r>
            <a:endParaRPr lang="en-US" sz="2450" dirty="0"/>
          </a:p>
        </p:txBody>
      </p:sp>
      <p:sp>
        <p:nvSpPr>
          <p:cNvPr id="31" name="Text 28"/>
          <p:cNvSpPr/>
          <p:nvPr/>
        </p:nvSpPr>
        <p:spPr>
          <a:xfrm>
            <a:off x="7022306" y="2771775"/>
            <a:ext cx="1550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Embed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022306" y="3028950"/>
            <a:ext cx="15501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FFEDD5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嵌入 · 成果沉淀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7022306" y="3343275"/>
            <a:ext cx="155019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7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将优秀的个人尝试或部门案例，正式沉淀为组织的标准化流程、操作规范或下一阶段的业务试点项目。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7022306" y="4066580"/>
            <a:ext cx="155019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600" b="1" dirty="0">
                <a:solidFill>
                  <a:srgbClr val="FFEDD5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关键动作：成果嘉奖、试点路线图输出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4A8F"/>
          </a:solidFill>
          <a:ln/>
        </p:spPr>
      </p:sp>
      <p:sp>
        <p:nvSpPr>
          <p:cNvPr id="4" name="Text 1"/>
          <p:cNvSpPr/>
          <p:nvPr/>
        </p:nvSpPr>
        <p:spPr>
          <a:xfrm>
            <a:off x="342900" y="228600"/>
            <a:ext cx="373439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spc="1" kern="0" dirty="0">
                <a:solidFill>
                  <a:srgbClr val="BFDBF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EXECUTIVE ALIGNMENT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42900" y="428625"/>
            <a:ext cx="373439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b="1" spc="1" kern="0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关键探讨：开启组织能力建设的第一步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0" y="914400"/>
            <a:ext cx="9144000" cy="42291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" name="Text 4"/>
          <p:cNvSpPr/>
          <p:nvPr/>
        </p:nvSpPr>
        <p:spPr>
          <a:xfrm>
            <a:off x="342900" y="1200150"/>
            <a:ext cx="8458200" cy="40005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在推进具体的活动执行前，我们希望共同对齐以下 </a:t>
            </a:r>
            <a:r>
              <a:rPr lang="en-US" sz="1000" b="1" dirty="0">
                <a:solidFill>
                  <a:srgbClr val="004A8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6 个关键问题</a:t>
            </a:r>
            <a:r>
              <a:rPr lang="en-US" sz="1050" dirty="0">
                <a:solidFill>
                  <a:srgbClr val="374151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，</a:t>
            </a:r>
            <a:r>
              <a:rPr lang="en-US" sz="1050" dirty="0">
                <a:solidFill>
                  <a:srgbClr val="374151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
</a:t>
            </a:r>
            <a:r>
              <a:rPr lang="en-US" sz="1050" dirty="0">
                <a:solidFill>
                  <a:srgbClr val="374151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确保本次 AI 月的投入能够转化为真实的组织能力与商业价值：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42900" y="1828800"/>
            <a:ext cx="285750" cy="285750"/>
          </a:xfrm>
          <a:prstGeom prst="ellipse">
            <a:avLst/>
          </a:prstGeom>
          <a:solidFill>
            <a:srgbClr val="004A8F"/>
          </a:solidFill>
          <a:ln/>
        </p:spPr>
      </p:sp>
      <p:sp>
        <p:nvSpPr>
          <p:cNvPr id="9" name="Text 6"/>
          <p:cNvSpPr/>
          <p:nvPr/>
        </p:nvSpPr>
        <p:spPr>
          <a:xfrm>
            <a:off x="342900" y="182880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2950" y="1828800"/>
            <a:ext cx="3657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变革的焦点在哪里？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42950" y="2085975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这次 AI 月，我们最希望改变的是员工 Mindset、部门协作流程，还是直接触及客户体验？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743450" y="1828800"/>
            <a:ext cx="285750" cy="285750"/>
          </a:xfrm>
          <a:prstGeom prst="ellipse">
            <a:avLst/>
          </a:prstGeom>
          <a:solidFill>
            <a:srgbClr val="004A8F"/>
          </a:solidFill>
          <a:ln/>
        </p:spPr>
      </p:sp>
      <p:sp>
        <p:nvSpPr>
          <p:cNvPr id="13" name="Text 10"/>
          <p:cNvSpPr/>
          <p:nvPr/>
        </p:nvSpPr>
        <p:spPr>
          <a:xfrm>
            <a:off x="4743450" y="182880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143500" y="1828800"/>
            <a:ext cx="3657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如何挖掘隐性资产？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143500" y="2085975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哪些 AI 尝试（如员工自发使用的工具、小范围的提效）已经在内部发生，只是还没有被组织“看见”？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42900" y="2914650"/>
            <a:ext cx="285750" cy="285750"/>
          </a:xfrm>
          <a:prstGeom prst="ellipse">
            <a:avLst/>
          </a:prstGeom>
          <a:solidFill>
            <a:srgbClr val="004A8F"/>
          </a:solidFill>
          <a:ln/>
        </p:spPr>
      </p:sp>
      <p:sp>
        <p:nvSpPr>
          <p:cNvPr id="17" name="Text 14"/>
          <p:cNvSpPr/>
          <p:nvPr/>
        </p:nvSpPr>
        <p:spPr>
          <a:xfrm>
            <a:off x="342900" y="291465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42950" y="2914650"/>
            <a:ext cx="3657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期望留下什么“资产”？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42950" y="3171825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希望这次活动结束后在组织内留下什么：是实用的案例集、持续的激励机制、具体的业务试点，还是高层的战略共识？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743450" y="2914650"/>
            <a:ext cx="285750" cy="285750"/>
          </a:xfrm>
          <a:prstGeom prst="ellipse">
            <a:avLst/>
          </a:prstGeom>
          <a:solidFill>
            <a:srgbClr val="004A8F"/>
          </a:solidFill>
          <a:ln/>
        </p:spPr>
      </p:sp>
      <p:sp>
        <p:nvSpPr>
          <p:cNvPr id="21" name="Text 18"/>
          <p:cNvSpPr/>
          <p:nvPr/>
        </p:nvSpPr>
        <p:spPr>
          <a:xfrm>
            <a:off x="4743450" y="291465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143500" y="2914650"/>
            <a:ext cx="3657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高管的准确角色是什么？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143500" y="3171825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在整个 AI Journey 中，高管团队是作为资源赞助人、观察者、经验分享者，还是具体试点的 Owner？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342900" y="4000500"/>
            <a:ext cx="285750" cy="285750"/>
          </a:xfrm>
          <a:prstGeom prst="ellipse">
            <a:avLst/>
          </a:prstGeom>
          <a:solidFill>
            <a:srgbClr val="004A8F"/>
          </a:solidFill>
          <a:ln/>
        </p:spPr>
      </p:sp>
      <p:sp>
        <p:nvSpPr>
          <p:cNvPr id="25" name="Text 22"/>
          <p:cNvSpPr/>
          <p:nvPr/>
        </p:nvSpPr>
        <p:spPr>
          <a:xfrm>
            <a:off x="342900" y="400050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42950" y="4000500"/>
            <a:ext cx="3657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如何划定推动边界？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42950" y="4257675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在整个转型图景中，哪些场景是 HR 可以独立推动的？哪些必须由业务 Leader 亲自下场才能实现？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743450" y="4000500"/>
            <a:ext cx="285750" cy="28575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9" name="Text 26"/>
          <p:cNvSpPr/>
          <p:nvPr/>
        </p:nvSpPr>
        <p:spPr>
          <a:xfrm>
            <a:off x="4743450" y="400050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143500" y="4000500"/>
            <a:ext cx="3657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00" b="1" dirty="0">
                <a:solidFill>
                  <a:srgbClr val="EA580C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如何定义“成功”？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143500" y="4257675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如果 8 月底 AI 月结束，我们用什么具体指标或成果来证明，它不是一场热闹的活动，而是组织能力建设的开端？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1818084" cy="300038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1050" spc="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8月 AI 月：全员激活全景图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71500" y="742950"/>
            <a:ext cx="8001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从启发认知到业务共创，打造持续的组织影响力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71500" y="1088696"/>
            <a:ext cx="80010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覆盖上海办公室 </a:t>
            </a:r>
            <a:r>
              <a:rPr lang="en-US" sz="9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130位</a:t>
            </a:r>
            <a:r>
              <a:rPr lang="en-US" sz="9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全员，以 </a:t>
            </a:r>
            <a:r>
              <a:rPr lang="en-US" sz="9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咨询框架</a:t>
            </a:r>
            <a:r>
              <a:rPr lang="en-US" sz="9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引导组织 AI 转型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71500" y="1563756"/>
            <a:ext cx="2552719" cy="435769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4"/>
          <p:cNvSpPr/>
          <p:nvPr/>
        </p:nvSpPr>
        <p:spPr>
          <a:xfrm>
            <a:off x="714375" y="1690557"/>
            <a:ext cx="104655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Phase 1: Inspire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409844" y="1678056"/>
            <a:ext cx="571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启发认知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71500" y="2113824"/>
            <a:ext cx="2552719" cy="13215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2113824"/>
            <a:ext cx="2552719" cy="7144"/>
          </a:xfrm>
          <a:prstGeom prst="rect">
            <a:avLst/>
          </a:prstGeom>
          <a:solidFill>
            <a:srgbClr val="E8EBEF"/>
          </a:solidFill>
          <a:ln/>
        </p:spPr>
      </p:sp>
      <p:sp>
        <p:nvSpPr>
          <p:cNvPr id="11" name="Shape 8"/>
          <p:cNvSpPr/>
          <p:nvPr/>
        </p:nvSpPr>
        <p:spPr>
          <a:xfrm>
            <a:off x="3117075" y="2113824"/>
            <a:ext cx="7144" cy="1321594"/>
          </a:xfrm>
          <a:prstGeom prst="rect">
            <a:avLst/>
          </a:prstGeom>
          <a:solidFill>
            <a:srgbClr val="E8EBEF"/>
          </a:solidFill>
          <a:ln/>
        </p:spPr>
      </p:sp>
      <p:sp>
        <p:nvSpPr>
          <p:cNvPr id="12" name="Shape 9"/>
          <p:cNvSpPr/>
          <p:nvPr/>
        </p:nvSpPr>
        <p:spPr>
          <a:xfrm>
            <a:off x="571500" y="3428274"/>
            <a:ext cx="2552719" cy="7144"/>
          </a:xfrm>
          <a:prstGeom prst="rect">
            <a:avLst/>
          </a:prstGeom>
          <a:solidFill>
            <a:srgbClr val="E8EBEF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" y="2113824"/>
            <a:ext cx="28575" cy="132159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1"/>
          <p:cNvSpPr/>
          <p:nvPr/>
        </p:nvSpPr>
        <p:spPr>
          <a:xfrm>
            <a:off x="714375" y="2256699"/>
            <a:ext cx="226696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01. 外部启发 (高管对标)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14375" y="2549593"/>
            <a:ext cx="226696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不仅看技术，更看组织。重点考察 AI 驱动下的商业模式创新与 Shared Value。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714375" y="2935356"/>
            <a:ext cx="2266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高管战略复盘清谈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714375" y="3135381"/>
            <a:ext cx="2266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传统企业 AI 转型案例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71500" y="3535431"/>
            <a:ext cx="2552719" cy="13215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571500" y="3535431"/>
            <a:ext cx="2552719" cy="7144"/>
          </a:xfrm>
          <a:prstGeom prst="rect">
            <a:avLst/>
          </a:prstGeom>
          <a:solidFill>
            <a:srgbClr val="E8EBEF"/>
          </a:solidFill>
          <a:ln/>
        </p:spPr>
      </p:sp>
      <p:sp>
        <p:nvSpPr>
          <p:cNvPr id="20" name="Shape 17"/>
          <p:cNvSpPr/>
          <p:nvPr/>
        </p:nvSpPr>
        <p:spPr>
          <a:xfrm>
            <a:off x="3117075" y="3535431"/>
            <a:ext cx="7144" cy="1321594"/>
          </a:xfrm>
          <a:prstGeom prst="rect">
            <a:avLst/>
          </a:prstGeom>
          <a:solidFill>
            <a:srgbClr val="E8EBEF"/>
          </a:solidFill>
          <a:ln/>
        </p:spPr>
      </p:sp>
      <p:sp>
        <p:nvSpPr>
          <p:cNvPr id="21" name="Shape 18"/>
          <p:cNvSpPr/>
          <p:nvPr/>
        </p:nvSpPr>
        <p:spPr>
          <a:xfrm>
            <a:off x="571500" y="4849881"/>
            <a:ext cx="2552719" cy="7144"/>
          </a:xfrm>
          <a:prstGeom prst="rect">
            <a:avLst/>
          </a:prstGeom>
          <a:solidFill>
            <a:srgbClr val="E8EBEF"/>
          </a:solidFill>
          <a:ln/>
        </p:spPr>
      </p:sp>
      <p:sp>
        <p:nvSpPr>
          <p:cNvPr id="22" name="Shape 19"/>
          <p:cNvSpPr/>
          <p:nvPr/>
        </p:nvSpPr>
        <p:spPr>
          <a:xfrm>
            <a:off x="571500" y="3535431"/>
            <a:ext cx="28575" cy="132159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3" name="Text 20"/>
          <p:cNvSpPr/>
          <p:nvPr/>
        </p:nvSpPr>
        <p:spPr>
          <a:xfrm>
            <a:off x="714375" y="3678306"/>
            <a:ext cx="226696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02. 全员启动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14375" y="3971199"/>
            <a:ext cx="22669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统一全员认知，明确 AI 月的核心目标与参与机制。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14375" y="4221231"/>
            <a:ext cx="2266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管理层站台定调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714375" y="4421256"/>
            <a:ext cx="2266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发布 AI Attempt 机制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3295669" y="1563756"/>
            <a:ext cx="2552719" cy="435769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8" name="Text 25"/>
          <p:cNvSpPr/>
          <p:nvPr/>
        </p:nvSpPr>
        <p:spPr>
          <a:xfrm>
            <a:off x="3438544" y="1690557"/>
            <a:ext cx="117871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Phase 2: Ideation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134012" y="1678056"/>
            <a:ext cx="571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创意生成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295669" y="2113824"/>
            <a:ext cx="2552719" cy="25931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8"/>
          <p:cNvSpPr/>
          <p:nvPr/>
        </p:nvSpPr>
        <p:spPr>
          <a:xfrm>
            <a:off x="3295669" y="2113824"/>
            <a:ext cx="2552719" cy="7144"/>
          </a:xfrm>
          <a:prstGeom prst="rect">
            <a:avLst/>
          </a:prstGeom>
          <a:solidFill>
            <a:srgbClr val="E8EBEF"/>
          </a:solidFill>
          <a:ln/>
        </p:spPr>
      </p:sp>
      <p:sp>
        <p:nvSpPr>
          <p:cNvPr id="32" name="Shape 29"/>
          <p:cNvSpPr/>
          <p:nvPr/>
        </p:nvSpPr>
        <p:spPr>
          <a:xfrm>
            <a:off x="5841243" y="2113824"/>
            <a:ext cx="7144" cy="2593181"/>
          </a:xfrm>
          <a:prstGeom prst="rect">
            <a:avLst/>
          </a:prstGeom>
          <a:solidFill>
            <a:srgbClr val="E8EBEF"/>
          </a:solidFill>
          <a:ln/>
        </p:spPr>
      </p:sp>
      <p:sp>
        <p:nvSpPr>
          <p:cNvPr id="33" name="Shape 30"/>
          <p:cNvSpPr/>
          <p:nvPr/>
        </p:nvSpPr>
        <p:spPr>
          <a:xfrm>
            <a:off x="3295669" y="4699862"/>
            <a:ext cx="2552719" cy="7144"/>
          </a:xfrm>
          <a:prstGeom prst="rect">
            <a:avLst/>
          </a:prstGeom>
          <a:solidFill>
            <a:srgbClr val="E8EBEF"/>
          </a:solidFill>
          <a:ln/>
        </p:spPr>
      </p:sp>
      <p:sp>
        <p:nvSpPr>
          <p:cNvPr id="34" name="Shape 31"/>
          <p:cNvSpPr/>
          <p:nvPr/>
        </p:nvSpPr>
        <p:spPr>
          <a:xfrm>
            <a:off x="3295669" y="2113824"/>
            <a:ext cx="28575" cy="2593181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5" name="Text 32"/>
          <p:cNvSpPr/>
          <p:nvPr/>
        </p:nvSpPr>
        <p:spPr>
          <a:xfrm>
            <a:off x="3438544" y="2256699"/>
            <a:ext cx="226696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03. 真人图书馆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3438544" y="2549593"/>
            <a:ext cx="226696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打破部门墙，挖掘内部已经有 AI 实践经验的“隐藏达人”，让看得见的成果在内部快速流动。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438544" y="4021206"/>
            <a:ext cx="2266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财务/HR/营销等职能达人分享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3438544" y="4221231"/>
            <a:ext cx="2266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轻量化 AI 场景演示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3438544" y="4421256"/>
            <a:ext cx="2266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跨部门痛点碰撞与共创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6019837" y="1563756"/>
            <a:ext cx="2552719" cy="435769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1" name="Text 38"/>
          <p:cNvSpPr/>
          <p:nvPr/>
        </p:nvSpPr>
        <p:spPr>
          <a:xfrm>
            <a:off x="6162712" y="1690557"/>
            <a:ext cx="100012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Phase 3: Equip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7858181" y="1678056"/>
            <a:ext cx="571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能力建设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019837" y="2113824"/>
            <a:ext cx="2552719" cy="12965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1"/>
          <p:cNvSpPr/>
          <p:nvPr/>
        </p:nvSpPr>
        <p:spPr>
          <a:xfrm>
            <a:off x="6019837" y="2113824"/>
            <a:ext cx="2552719" cy="7144"/>
          </a:xfrm>
          <a:prstGeom prst="rect">
            <a:avLst/>
          </a:prstGeom>
          <a:solidFill>
            <a:srgbClr val="E8EBEF"/>
          </a:solidFill>
          <a:ln/>
        </p:spPr>
      </p:sp>
      <p:sp>
        <p:nvSpPr>
          <p:cNvPr id="45" name="Shape 42"/>
          <p:cNvSpPr/>
          <p:nvPr/>
        </p:nvSpPr>
        <p:spPr>
          <a:xfrm>
            <a:off x="8565412" y="2113824"/>
            <a:ext cx="7144" cy="1296591"/>
          </a:xfrm>
          <a:prstGeom prst="rect">
            <a:avLst/>
          </a:prstGeom>
          <a:solidFill>
            <a:srgbClr val="E8EBEF"/>
          </a:solidFill>
          <a:ln/>
        </p:spPr>
      </p:sp>
      <p:sp>
        <p:nvSpPr>
          <p:cNvPr id="46" name="Shape 43"/>
          <p:cNvSpPr/>
          <p:nvPr/>
        </p:nvSpPr>
        <p:spPr>
          <a:xfrm>
            <a:off x="6019837" y="3403271"/>
            <a:ext cx="2552719" cy="7144"/>
          </a:xfrm>
          <a:prstGeom prst="rect">
            <a:avLst/>
          </a:prstGeom>
          <a:solidFill>
            <a:srgbClr val="E8EBEF"/>
          </a:solidFill>
          <a:ln/>
        </p:spPr>
      </p:sp>
      <p:sp>
        <p:nvSpPr>
          <p:cNvPr id="47" name="Shape 44"/>
          <p:cNvSpPr/>
          <p:nvPr/>
        </p:nvSpPr>
        <p:spPr>
          <a:xfrm>
            <a:off x="6019837" y="2113824"/>
            <a:ext cx="28575" cy="1296591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8" name="Text 45"/>
          <p:cNvSpPr/>
          <p:nvPr/>
        </p:nvSpPr>
        <p:spPr>
          <a:xfrm>
            <a:off x="6162712" y="2256699"/>
            <a:ext cx="2266969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04. AI Attempt Lab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6162712" y="2524590"/>
            <a:ext cx="226696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摒弃内卷式 PK，提供安全的沙盘环境，鼓励员工大胆尝试。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6162712" y="2910353"/>
            <a:ext cx="2266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Token 资源与 Coach 辅导机制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6162712" y="3110378"/>
            <a:ext cx="2266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聚焦真实业务流提效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6019837" y="3510428"/>
            <a:ext cx="2552719" cy="1196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50"/>
          <p:cNvSpPr/>
          <p:nvPr/>
        </p:nvSpPr>
        <p:spPr>
          <a:xfrm>
            <a:off x="6019837" y="3510428"/>
            <a:ext cx="2552719" cy="7144"/>
          </a:xfrm>
          <a:prstGeom prst="rect">
            <a:avLst/>
          </a:prstGeom>
          <a:solidFill>
            <a:srgbClr val="E8EBEF"/>
          </a:solidFill>
          <a:ln/>
        </p:spPr>
      </p:sp>
      <p:sp>
        <p:nvSpPr>
          <p:cNvPr id="54" name="Shape 51"/>
          <p:cNvSpPr/>
          <p:nvPr/>
        </p:nvSpPr>
        <p:spPr>
          <a:xfrm>
            <a:off x="8565412" y="3510428"/>
            <a:ext cx="7144" cy="1196578"/>
          </a:xfrm>
          <a:prstGeom prst="rect">
            <a:avLst/>
          </a:prstGeom>
          <a:solidFill>
            <a:srgbClr val="E8EBEF"/>
          </a:solidFill>
          <a:ln/>
        </p:spPr>
      </p:sp>
      <p:sp>
        <p:nvSpPr>
          <p:cNvPr id="55" name="Shape 52"/>
          <p:cNvSpPr/>
          <p:nvPr/>
        </p:nvSpPr>
        <p:spPr>
          <a:xfrm>
            <a:off x="6019837" y="4699862"/>
            <a:ext cx="2552719" cy="7144"/>
          </a:xfrm>
          <a:prstGeom prst="rect">
            <a:avLst/>
          </a:prstGeom>
          <a:solidFill>
            <a:srgbClr val="E8EBEF"/>
          </a:solidFill>
          <a:ln/>
        </p:spPr>
      </p:sp>
      <p:sp>
        <p:nvSpPr>
          <p:cNvPr id="56" name="Shape 53"/>
          <p:cNvSpPr/>
          <p:nvPr/>
        </p:nvSpPr>
        <p:spPr>
          <a:xfrm>
            <a:off x="6019837" y="3510428"/>
            <a:ext cx="28575" cy="119657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57" name="Text 54"/>
          <p:cNvSpPr/>
          <p:nvPr/>
        </p:nvSpPr>
        <p:spPr>
          <a:xfrm>
            <a:off x="6162712" y="3653303"/>
            <a:ext cx="226696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05. Showcase &amp; 嘉奖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6162712" y="3946196"/>
            <a:ext cx="22669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将碎片化的创新成果固化为组织的标准化资产。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6162712" y="4221231"/>
            <a:ext cx="2266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优秀 AI 实践案例评选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6162712" y="4421256"/>
            <a:ext cx="2266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沉淀下一阶段试点路线图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472" y="2352444"/>
            <a:ext cx="617934" cy="300038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1050" spc="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8月 AI 月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71472" y="2738206"/>
            <a:ext cx="8001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附件：首次提案内容（待更新）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2464315" cy="482203"/>
          </a:xfrm>
          <a:prstGeom prst="rect">
            <a:avLst/>
          </a:prstGeom>
          <a:noFill/>
          <a:ln/>
        </p:spPr>
        <p:txBody>
          <a:bodyPr wrap="square" lIns="0" tIns="0" rIns="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700" spc="-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基于初步沟通的需求理解</a:t>
            </a:r>
            <a:endParaRPr lang="en-US" sz="1700" dirty="0"/>
          </a:p>
        </p:txBody>
      </p:sp>
      <p:sp>
        <p:nvSpPr>
          <p:cNvPr id="4" name="Shape 1"/>
          <p:cNvSpPr/>
          <p:nvPr/>
        </p:nvSpPr>
        <p:spPr>
          <a:xfrm>
            <a:off x="571500" y="1196578"/>
            <a:ext cx="2714625" cy="1417141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96578"/>
            <a:ext cx="28575" cy="1417141"/>
          </a:xfrm>
          <a:prstGeom prst="rect">
            <a:avLst/>
          </a:prstGeom>
          <a:solidFill>
            <a:srgbClr val="63B3ED"/>
          </a:solidFill>
          <a:ln/>
        </p:spPr>
      </p:sp>
      <p:sp>
        <p:nvSpPr>
          <p:cNvPr id="6" name="Text 3"/>
          <p:cNvSpPr/>
          <p:nvPr/>
        </p:nvSpPr>
        <p:spPr>
          <a:xfrm>
            <a:off x="800100" y="1425178"/>
            <a:ext cx="2257425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spc="1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面对新的内外部环境变化的AI时代，重新打造组织协同优势的深度体验、启发和创造。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71500" y="2842320"/>
            <a:ext cx="5715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参与对象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257300" y="2842320"/>
            <a:ext cx="2028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10位核心高管为主要团队，可选择延展到30位extended leaders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71500" y="3299520"/>
            <a:ext cx="5715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时间规划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257300" y="3299520"/>
            <a:ext cx="857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高管AI参访：</a:t>
            </a:r>
            <a:r>
              <a:rPr lang="en-US" sz="8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8月</a:t>
            </a:r>
            <a:r>
              <a:rPr lang="en-US" sz="8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
</a:t>
            </a:r>
            <a:r>
              <a:rPr lang="en-US" sz="8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高管团建：</a:t>
            </a:r>
            <a:r>
              <a:rPr lang="en-US" sz="8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Q4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71500" y="3756720"/>
            <a:ext cx="5715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宏观背景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257300" y="3756720"/>
            <a:ext cx="20288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过去五年，移动互联化、消费结构升级与生成式AI大模型，深刻改变了大型多元化企业的经营模式和竞争格局。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714750" y="1196578"/>
            <a:ext cx="4857750" cy="1364456"/>
          </a:xfrm>
          <a:prstGeom prst="rect">
            <a:avLst/>
          </a:prstGeom>
          <a:solidFill>
            <a:srgbClr val="FFFFFF">
              <a:alpha val="60000"/>
            </a:srgbClr>
          </a:solidFill>
          <a:ln w="9144">
            <a:solidFill>
              <a:srgbClr val="2B6CB0">
                <a:alpha val="1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43350" y="1368028"/>
            <a:ext cx="44005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面对AI时代，高管团队的三个核心思考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943350" y="1689497"/>
            <a:ext cx="440055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高效协同的未来蓝图如何描绘？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943350" y="1946672"/>
            <a:ext cx="440055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组织升级的前沿思想如何解读？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943350" y="2203847"/>
            <a:ext cx="440055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高度自驱的优质团队如何打造？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714750" y="2775347"/>
            <a:ext cx="4857750" cy="1793081"/>
          </a:xfrm>
          <a:prstGeom prst="rect">
            <a:avLst/>
          </a:prstGeom>
          <a:solidFill>
            <a:srgbClr val="FFFFFF">
              <a:alpha val="60000"/>
            </a:srgbClr>
          </a:solidFill>
          <a:ln w="9144">
            <a:solidFill>
              <a:srgbClr val="2B6CB0">
                <a:alpha val="1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943350" y="1689497"/>
            <a:ext cx="500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2B6CB0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•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943350" y="1946672"/>
            <a:ext cx="500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2B6CB0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•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943350" y="2203847"/>
            <a:ext cx="500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2B6CB0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•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943350" y="2946797"/>
            <a:ext cx="44005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希望通过参访标杆AI公司获得的启发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3943350" y="3268266"/>
            <a:ext cx="440055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管理理念：</a:t>
            </a:r>
            <a:r>
              <a:rPr lang="en-US" sz="8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了解组织管理及其背后的高效理念。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943350" y="3525441"/>
            <a:ext cx="4400550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业务落地：</a:t>
            </a:r>
            <a:r>
              <a:rPr lang="en-US" sz="8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深入了解AI如何改变企业运营，如何找对、找准业务AI场景，怎样高效制定企业AI策略。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943350" y="3954066"/>
            <a:ext cx="440055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工具驱动：</a:t>
            </a:r>
            <a:r>
              <a:rPr lang="en-US" sz="8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洞察未来组织整合工具驱动升级的运作机制。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943350" y="4211241"/>
            <a:ext cx="440055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目标对齐：</a:t>
            </a:r>
            <a:r>
              <a:rPr lang="en-US" sz="8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解码目标管理对齐视角的组织如何协力前进。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943350" y="3268266"/>
            <a:ext cx="500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2B6CB0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•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3943350" y="3525441"/>
            <a:ext cx="500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2B6CB0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•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3943350" y="3954066"/>
            <a:ext cx="500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2B6CB0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•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3943350" y="4211241"/>
            <a:ext cx="500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2B6CB0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•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1981107" cy="482203"/>
          </a:xfrm>
          <a:prstGeom prst="rect">
            <a:avLst/>
          </a:prstGeom>
          <a:noFill/>
          <a:ln/>
        </p:spPr>
        <p:txBody>
          <a:bodyPr wrap="square" lIns="0" tIns="0" rIns="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700" spc="-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Empact 的解题思路</a:t>
            </a:r>
            <a:endParaRPr lang="en-US" sz="1700" dirty="0"/>
          </a:p>
        </p:txBody>
      </p:sp>
      <p:sp>
        <p:nvSpPr>
          <p:cNvPr id="4" name="Shape 1"/>
          <p:cNvSpPr/>
          <p:nvPr/>
        </p:nvSpPr>
        <p:spPr>
          <a:xfrm>
            <a:off x="571500" y="1196578"/>
            <a:ext cx="8001000" cy="1165771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96578"/>
            <a:ext cx="42863" cy="1165771"/>
          </a:xfrm>
          <a:prstGeom prst="rect">
            <a:avLst/>
          </a:prstGeom>
          <a:solidFill>
            <a:srgbClr val="63B3ED"/>
          </a:solidFill>
          <a:ln/>
        </p:spPr>
      </p:sp>
      <p:sp>
        <p:nvSpPr>
          <p:cNvPr id="6" name="Text 3"/>
          <p:cNvSpPr/>
          <p:nvPr/>
        </p:nvSpPr>
        <p:spPr>
          <a:xfrm>
            <a:off x="857250" y="1482328"/>
            <a:ext cx="7429500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spc="1" kern="0" dirty="0">
                <a:solidFill>
                  <a:srgbClr val="FFFFFF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把一个看似常规的活动，做成一个</a:t>
            </a:r>
            <a:r>
              <a:rPr lang="en-US" sz="1400" spc="1" kern="0" dirty="0">
                <a:solidFill>
                  <a:srgbClr val="63B3E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有目标、有机制、有复盘</a:t>
            </a:r>
            <a:r>
              <a:rPr lang="en-US" sz="1400" spc="1" kern="0" dirty="0">
                <a:solidFill>
                  <a:srgbClr val="FFFFFF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的管理项目。</a:t>
            </a:r>
            <a:r>
              <a:rPr lang="en-US" sz="1400" spc="1" kern="0" dirty="0">
                <a:solidFill>
                  <a:srgbClr val="FFFFFF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
</a:t>
            </a:r>
            <a:r>
              <a:rPr lang="en-US" sz="1400" spc="1" kern="0" dirty="0">
                <a:solidFill>
                  <a:srgbClr val="63B3E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以体验而非说教的方式</a:t>
            </a:r>
            <a:r>
              <a:rPr lang="en-US" sz="1400" spc="1" kern="0" dirty="0">
                <a:solidFill>
                  <a:srgbClr val="FFFFFF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，在高管的原有优势上，创造新的火花。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71500" y="2648099"/>
            <a:ext cx="2552663" cy="2066776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2648099"/>
            <a:ext cx="2552663" cy="21431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6"/>
          <p:cNvSpPr/>
          <p:nvPr/>
        </p:nvSpPr>
        <p:spPr>
          <a:xfrm>
            <a:off x="742950" y="2876699"/>
            <a:ext cx="220976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1. 带着业务问题去体验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2950" y="3198168"/>
            <a:ext cx="22097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拒绝走马观花的参观。在活动前设定清晰的探索课题，让高管带着真实的业务痛点进入场景，确保输入的信息能直接回应内部挑战。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295613" y="2648099"/>
            <a:ext cx="2552719" cy="2066776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3295613" y="2648099"/>
            <a:ext cx="2552719" cy="21431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0"/>
          <p:cNvSpPr/>
          <p:nvPr/>
        </p:nvSpPr>
        <p:spPr>
          <a:xfrm>
            <a:off x="3467063" y="2876699"/>
            <a:ext cx="220981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2. 设计强制协同的机制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467063" y="3198168"/>
            <a:ext cx="220981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通过分组共创、角色互换等机制设计，让高管在平等的规则下重新建立沟通语言和信任基础。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019781" y="2648099"/>
            <a:ext cx="2552719" cy="2066776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019781" y="2648099"/>
            <a:ext cx="2552719" cy="21431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4"/>
          <p:cNvSpPr/>
          <p:nvPr/>
        </p:nvSpPr>
        <p:spPr>
          <a:xfrm>
            <a:off x="6191231" y="2876699"/>
            <a:ext cx="220981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3. 引导结构化的复盘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191231" y="3198168"/>
            <a:ext cx="220981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体验本身不能解决问题，复盘才能。专业引导师将活动中的灵感与碰撞，结构化地收敛为下一步的管理动作与共识。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1344197" cy="482203"/>
          </a:xfrm>
          <a:prstGeom prst="rect">
            <a:avLst/>
          </a:prstGeom>
          <a:noFill/>
          <a:ln/>
        </p:spPr>
        <p:txBody>
          <a:bodyPr wrap="square" lIns="0" tIns="0" rIns="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700" spc="-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方案路径总览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571500" y="1139428"/>
            <a:ext cx="2286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50" spc="-1" kern="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三条路径，</a:t>
            </a:r>
            <a:r>
              <a:rPr lang="en-US" sz="2150" spc="-1" kern="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
</a:t>
            </a:r>
            <a:r>
              <a:rPr lang="en-US" sz="2150" spc="-1" kern="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满足不同深度的</a:t>
            </a:r>
            <a:r>
              <a:rPr lang="en-US" sz="2150" spc="-1" kern="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
</a:t>
            </a:r>
            <a:r>
              <a:rPr lang="en-US" sz="2150" spc="-1" kern="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需求。</a:t>
            </a:r>
            <a:endParaRPr lang="en-US" sz="2150" dirty="0"/>
          </a:p>
        </p:txBody>
      </p:sp>
      <p:sp>
        <p:nvSpPr>
          <p:cNvPr id="5" name="Shape 2"/>
          <p:cNvSpPr/>
          <p:nvPr/>
        </p:nvSpPr>
        <p:spPr>
          <a:xfrm>
            <a:off x="3143250" y="996553"/>
            <a:ext cx="1714500" cy="3143027"/>
          </a:xfrm>
          <a:prstGeom prst="rect">
            <a:avLst/>
          </a:prstGeom>
          <a:solidFill>
            <a:srgbClr val="FFFFFF">
              <a:alpha val="60000"/>
            </a:srgbClr>
          </a:solidFill>
          <a:ln w="9144">
            <a:solidFill>
              <a:srgbClr val="1A365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143250" y="996553"/>
            <a:ext cx="1714500" cy="442913"/>
          </a:xfrm>
          <a:prstGeom prst="rect">
            <a:avLst/>
          </a:prstGeom>
          <a:solidFill>
            <a:srgbClr val="1A365D">
              <a:alpha val="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143250" y="1432322"/>
            <a:ext cx="1714500" cy="714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5"/>
          <p:cNvSpPr/>
          <p:nvPr/>
        </p:nvSpPr>
        <p:spPr>
          <a:xfrm>
            <a:off x="3143250" y="996553"/>
            <a:ext cx="1714500" cy="442913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t">
            <a:spAutoFit/>
          </a:bodyPr>
          <a:lstStyle/>
          <a:p>
            <a:pPr algn="ctr" indent="0" marL="0">
              <a:buNone/>
            </a:pPr>
            <a:r>
              <a:rPr lang="en-US" sz="1050" spc="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路径 A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143250" y="1432322"/>
            <a:ext cx="1714500" cy="714375"/>
          </a:xfrm>
          <a:prstGeom prst="rect">
            <a:avLst/>
          </a:prstGeom>
          <a:noFill/>
          <a:ln/>
        </p:spPr>
        <p:txBody>
          <a:bodyPr wrap="square" lIns="170053" tIns="204089" rIns="170053" bIns="136017" rtlCol="0" anchor="ctr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AI企业深度参访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286125" y="2289572"/>
            <a:ext cx="14287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核心体验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286125" y="2489597"/>
            <a:ext cx="1428750" cy="54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走进前沿AI公司，亲身感受AI驱动的组织形态与管理工具。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286125" y="3330997"/>
            <a:ext cx="14287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适合场景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286125" y="3531022"/>
            <a:ext cx="142875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以知识获取与行业洞察为主要目标。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000625" y="996553"/>
            <a:ext cx="1714500" cy="3143027"/>
          </a:xfrm>
          <a:prstGeom prst="rect">
            <a:avLst/>
          </a:prstGeom>
          <a:solidFill>
            <a:srgbClr val="FFFFFF">
              <a:alpha val="60000"/>
            </a:srgbClr>
          </a:solidFill>
          <a:ln w="9144">
            <a:solidFill>
              <a:srgbClr val="1A365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00625" y="996553"/>
            <a:ext cx="1714500" cy="442913"/>
          </a:xfrm>
          <a:prstGeom prst="rect">
            <a:avLst/>
          </a:prstGeom>
          <a:solidFill>
            <a:srgbClr val="1A365D">
              <a:alpha val="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5000625" y="1432322"/>
            <a:ext cx="1714500" cy="714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7" name="Text 14"/>
          <p:cNvSpPr/>
          <p:nvPr/>
        </p:nvSpPr>
        <p:spPr>
          <a:xfrm>
            <a:off x="5000625" y="996553"/>
            <a:ext cx="1714500" cy="442913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t">
            <a:spAutoFit/>
          </a:bodyPr>
          <a:lstStyle/>
          <a:p>
            <a:pPr algn="ctr" indent="0" marL="0">
              <a:buNone/>
            </a:pPr>
            <a:r>
              <a:rPr lang="en-US" sz="1050" spc="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路径 B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000625" y="1432322"/>
            <a:ext cx="1714500" cy="792956"/>
          </a:xfrm>
          <a:prstGeom prst="rect">
            <a:avLst/>
          </a:prstGeom>
          <a:noFill/>
          <a:ln/>
        </p:spPr>
        <p:txBody>
          <a:bodyPr wrap="square" lIns="170053" tIns="204089" rIns="170053" bIns="136017" rtlCol="0" anchor="ctr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高管沉浸共创工作坊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143500" y="2368153"/>
            <a:ext cx="14287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核心体验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143500" y="2568178"/>
            <a:ext cx="1428750" cy="54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48小时AI黑客松或战略共创，用亲身实践感受AI决策工具。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143500" y="3409578"/>
            <a:ext cx="14287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适合场景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143500" y="3609603"/>
            <a:ext cx="142875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以组织协同与战略共识为主要目标。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858000" y="996553"/>
            <a:ext cx="1714500" cy="3121596"/>
          </a:xfrm>
          <a:prstGeom prst="rect">
            <a:avLst/>
          </a:prstGeom>
          <a:solidFill>
            <a:srgbClr val="FFFFFF">
              <a:alpha val="60000"/>
            </a:srgbClr>
          </a:solidFill>
          <a:ln w="9144">
            <a:solidFill>
              <a:srgbClr val="1A365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58000" y="996553"/>
            <a:ext cx="1714500" cy="442913"/>
          </a:xfrm>
          <a:prstGeom prst="rect">
            <a:avLst/>
          </a:prstGeom>
          <a:solidFill>
            <a:srgbClr val="1A365D">
              <a:alpha val="5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6858000" y="1432322"/>
            <a:ext cx="1714500" cy="714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6" name="Text 23"/>
          <p:cNvSpPr/>
          <p:nvPr/>
        </p:nvSpPr>
        <p:spPr>
          <a:xfrm>
            <a:off x="6858000" y="996553"/>
            <a:ext cx="1714500" cy="442913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t">
            <a:spAutoFit/>
          </a:bodyPr>
          <a:lstStyle/>
          <a:p>
            <a:pPr algn="ctr" indent="0" marL="0">
              <a:buNone/>
            </a:pPr>
            <a:r>
              <a:rPr lang="en-US" sz="1050" spc="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路径 C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858000" y="1432322"/>
            <a:ext cx="1714500" cy="714375"/>
          </a:xfrm>
          <a:prstGeom prst="rect">
            <a:avLst/>
          </a:prstGeom>
          <a:noFill/>
          <a:ln/>
        </p:spPr>
        <p:txBody>
          <a:bodyPr wrap="square" lIns="170053" tIns="204089" rIns="170053" bIns="136017" rtlCol="0" anchor="ctr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体验式 Offsite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7000875" y="2289572"/>
            <a:ext cx="14287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核心体验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7000875" y="2489597"/>
            <a:ext cx="1428750" cy="54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帆船、赛艇、即兴话剧等，在高品质体验中建立深层信任。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000875" y="3330997"/>
            <a:ext cx="14287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适合场景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000875" y="3531022"/>
            <a:ext cx="142875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以高管同频与信任建立为主要目标。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143250" y="4332461"/>
            <a:ext cx="5429250" cy="235744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>
                    <a:alpha val="70000"/>
                  </a:srgbClr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* 三条路径可单独实施，亦可组合为"半天参访 + 半天体验"的复合形式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1950244" cy="300038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1050" spc="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从认知到行动：闭环机制设计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71500" y="742950"/>
            <a:ext cx="8001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确保每一次启发与尝试，都能转化为真实的商业价值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71500" y="1303009"/>
            <a:ext cx="2324119" cy="199935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303009"/>
            <a:ext cx="2324119" cy="285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4"/>
          <p:cNvSpPr/>
          <p:nvPr/>
        </p:nvSpPr>
        <p:spPr>
          <a:xfrm>
            <a:off x="785813" y="1517321"/>
            <a:ext cx="189549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STEP 01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85813" y="1753065"/>
            <a:ext cx="1895494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启发闭环：Action Reflection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85813" y="2328137"/>
            <a:ext cx="1895494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参访高管与分享嘉宾输出明确的 Action Plan，将外部的 AI 洞察与 Shared Value 理念转化为内部可落地的行动指南。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067069" y="1303009"/>
            <a:ext cx="171450" cy="19707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A365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→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409969" y="1303009"/>
            <a:ext cx="2324119" cy="19707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3409969" y="1303009"/>
            <a:ext cx="2324119" cy="285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0"/>
          <p:cNvSpPr/>
          <p:nvPr/>
        </p:nvSpPr>
        <p:spPr>
          <a:xfrm>
            <a:off x="3624281" y="1517321"/>
            <a:ext cx="189549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STEP 02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3624281" y="1753065"/>
            <a:ext cx="1895494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实践闭环：AI Attempt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624281" y="2110253"/>
            <a:ext cx="1895494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员工提交 AI Attempt 实践，配套 Token 激励与 Coach 辅导机制，在真实业务流中验证 AI 工具的提效价值。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905537" y="1303009"/>
            <a:ext cx="171450" cy="19707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A365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→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248437" y="1303009"/>
            <a:ext cx="2324119" cy="19707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8437" y="1303009"/>
            <a:ext cx="2324119" cy="285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9" name="Text 16"/>
          <p:cNvSpPr/>
          <p:nvPr/>
        </p:nvSpPr>
        <p:spPr>
          <a:xfrm>
            <a:off x="6462750" y="1517321"/>
            <a:ext cx="189549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STEP 03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462750" y="1753065"/>
            <a:ext cx="1895494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资产闭环：Showcase &amp; Pilot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462750" y="2328137"/>
            <a:ext cx="1895494" cy="54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举办全员 Showcase 嘉奖优秀案例，将碎片化创新固化为组织资产，并筛选高潜场景进入下一阶段深度试点。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71500" y="3559541"/>
            <a:ext cx="8001000" cy="550069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3" name="Text 20"/>
          <p:cNvSpPr/>
          <p:nvPr/>
        </p:nvSpPr>
        <p:spPr>
          <a:xfrm>
            <a:off x="857250" y="3730991"/>
            <a:ext cx="7143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最终产出：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979069" y="3752422"/>
            <a:ext cx="122158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高管 AI 战略共识文档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486400" y="3752422"/>
            <a:ext cx="110728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内部 AI 实践案例库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879431" y="3752422"/>
            <a:ext cx="1407319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下一阶段业务试点路线图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2400300" cy="300038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1050" spc="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外部启发：案例叙事与内容供给方向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71500" y="742950"/>
            <a:ext cx="8001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寻找能将 AI 与业务价值、客户价值、社会价值连接起来的标杆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71500" y="1160134"/>
            <a:ext cx="2552663" cy="3697616"/>
          </a:xfrm>
          <a:prstGeom prst="rect">
            <a:avLst/>
          </a:prstGeom>
          <a:solidFill>
            <a:srgbClr val="FFFFFF">
              <a:alpha val="80000"/>
            </a:srgbClr>
          </a:solidFill>
          <a:ln w="9144">
            <a:solidFill>
              <a:srgbClr val="1A365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1500" y="1160134"/>
            <a:ext cx="2552663" cy="1000125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2153115"/>
            <a:ext cx="2552663" cy="7144"/>
          </a:xfrm>
          <a:prstGeom prst="rect">
            <a:avLst/>
          </a:prstGeom>
          <a:solidFill>
            <a:srgbClr val="D1D7DF"/>
          </a:solidFill>
          <a:ln/>
        </p:spPr>
      </p:sp>
      <p:sp>
        <p:nvSpPr>
          <p:cNvPr id="8" name="Shape 5"/>
          <p:cNvSpPr/>
          <p:nvPr/>
        </p:nvSpPr>
        <p:spPr>
          <a:xfrm>
            <a:off x="2338350" y="1160134"/>
            <a:ext cx="785813" cy="210741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6"/>
          <p:cNvSpPr/>
          <p:nvPr/>
        </p:nvSpPr>
        <p:spPr>
          <a:xfrm>
            <a:off x="2338350" y="1160134"/>
            <a:ext cx="785813" cy="210741"/>
          </a:xfrm>
          <a:prstGeom prst="rect">
            <a:avLst/>
          </a:prstGeom>
          <a:noFill/>
          <a:ln/>
        </p:spPr>
        <p:txBody>
          <a:bodyPr wrap="none" lIns="136017" tIns="51054" rIns="136017" bIns="51054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高管战略启发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742950" y="2303134"/>
            <a:ext cx="2209763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传统企业生态型转型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42950" y="2596028"/>
            <a:ext cx="22097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参考案例：腾讯等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742950" y="3003221"/>
            <a:ext cx="2209763" cy="575072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不仅是单点工具应用，而是探讨如何通过平台、生态、客户触点和业务场景重构服务模式。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42950" y="3692593"/>
            <a:ext cx="2209763" cy="125016"/>
          </a:xfrm>
          <a:prstGeom prst="rect">
            <a:avLst/>
          </a:prstGeom>
          <a:noFill/>
          <a:ln/>
        </p:spPr>
        <p:txBody>
          <a:bodyPr wrap="square" lIns="68072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核心议题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742950" y="3846184"/>
            <a:ext cx="2209763" cy="150019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组织如何适应 AI 驱动的生态协同？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742950" y="4110503"/>
            <a:ext cx="2209763" cy="125016"/>
          </a:xfrm>
          <a:prstGeom prst="rect">
            <a:avLst/>
          </a:prstGeom>
          <a:noFill/>
          <a:ln/>
        </p:spPr>
        <p:txBody>
          <a:bodyPr wrap="square" lIns="68072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适用对象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742950" y="4264093"/>
            <a:ext cx="2209763" cy="150019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高管团队 (Inspire 阶段)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295613" y="1160134"/>
            <a:ext cx="2552719" cy="3697616"/>
          </a:xfrm>
          <a:prstGeom prst="rect">
            <a:avLst/>
          </a:prstGeom>
          <a:solidFill>
            <a:srgbClr val="FFFFFF">
              <a:alpha val="80000"/>
            </a:srgbClr>
          </a:solidFill>
          <a:ln w="9144">
            <a:solidFill>
              <a:srgbClr val="1A365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95613" y="1160134"/>
            <a:ext cx="2552719" cy="1000125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19" name="Shape 16"/>
          <p:cNvSpPr/>
          <p:nvPr/>
        </p:nvSpPr>
        <p:spPr>
          <a:xfrm>
            <a:off x="3295613" y="2153115"/>
            <a:ext cx="2552719" cy="7144"/>
          </a:xfrm>
          <a:prstGeom prst="rect">
            <a:avLst/>
          </a:prstGeom>
          <a:solidFill>
            <a:srgbClr val="D1D7DF"/>
          </a:solidFill>
          <a:ln/>
        </p:spPr>
      </p:sp>
      <p:sp>
        <p:nvSpPr>
          <p:cNvPr id="20" name="Shape 17"/>
          <p:cNvSpPr/>
          <p:nvPr/>
        </p:nvSpPr>
        <p:spPr>
          <a:xfrm>
            <a:off x="5155388" y="1160134"/>
            <a:ext cx="692944" cy="210741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1" name="Text 18"/>
          <p:cNvSpPr/>
          <p:nvPr/>
        </p:nvSpPr>
        <p:spPr>
          <a:xfrm>
            <a:off x="5155388" y="1160134"/>
            <a:ext cx="692944" cy="210741"/>
          </a:xfrm>
          <a:prstGeom prst="rect">
            <a:avLst/>
          </a:prstGeom>
          <a:noFill/>
          <a:ln/>
        </p:spPr>
        <p:txBody>
          <a:bodyPr wrap="none" lIns="136017" tIns="51054" rIns="136017" bIns="51054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业务流重塑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3467063" y="2303134"/>
            <a:ext cx="2209819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AI 工作流与客户体验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3467063" y="2596028"/>
            <a:ext cx="22098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参考案例：商业地产/零售先锋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3467063" y="3003221"/>
            <a:ext cx="2209819" cy="414338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在现有系统不变的前提下，AI 如何嵌入业务流程，改善客户旅程、空间运营与销售转化。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467063" y="3531859"/>
            <a:ext cx="2209819" cy="125016"/>
          </a:xfrm>
          <a:prstGeom prst="rect">
            <a:avLst/>
          </a:prstGeom>
          <a:noFill/>
          <a:ln/>
        </p:spPr>
        <p:txBody>
          <a:bodyPr wrap="square" lIns="68072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核心议题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3467063" y="3685449"/>
            <a:ext cx="2209819" cy="150019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如何实现高效的人机协同与客户洞察？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467063" y="3949768"/>
            <a:ext cx="2209819" cy="125016"/>
          </a:xfrm>
          <a:prstGeom prst="rect">
            <a:avLst/>
          </a:prstGeom>
          <a:noFill/>
          <a:ln/>
        </p:spPr>
        <p:txBody>
          <a:bodyPr wrap="square" lIns="68072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适用对象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3467063" y="4103359"/>
            <a:ext cx="2209819" cy="150019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业务团队 / 营销 / 客户洞察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6019781" y="1160134"/>
            <a:ext cx="2552719" cy="3697616"/>
          </a:xfrm>
          <a:prstGeom prst="rect">
            <a:avLst/>
          </a:prstGeom>
          <a:solidFill>
            <a:srgbClr val="FFFFFF">
              <a:alpha val="80000"/>
            </a:srgbClr>
          </a:solidFill>
          <a:ln w="9144">
            <a:solidFill>
              <a:srgbClr val="1A365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019781" y="1160134"/>
            <a:ext cx="2552719" cy="100012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31" name="Shape 28"/>
          <p:cNvSpPr/>
          <p:nvPr/>
        </p:nvSpPr>
        <p:spPr>
          <a:xfrm>
            <a:off x="6019781" y="2153115"/>
            <a:ext cx="2552719" cy="7144"/>
          </a:xfrm>
          <a:prstGeom prst="rect">
            <a:avLst/>
          </a:prstGeom>
          <a:solidFill>
            <a:srgbClr val="D1D7DF"/>
          </a:solidFill>
          <a:ln/>
        </p:spPr>
      </p:sp>
      <p:sp>
        <p:nvSpPr>
          <p:cNvPr id="32" name="Shape 29"/>
          <p:cNvSpPr/>
          <p:nvPr/>
        </p:nvSpPr>
        <p:spPr>
          <a:xfrm>
            <a:off x="7615238" y="1160134"/>
            <a:ext cx="957263" cy="196453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3" name="Text 30"/>
          <p:cNvSpPr/>
          <p:nvPr/>
        </p:nvSpPr>
        <p:spPr>
          <a:xfrm>
            <a:off x="7615238" y="1160134"/>
            <a:ext cx="957263" cy="196453"/>
          </a:xfrm>
          <a:prstGeom prst="rect">
            <a:avLst/>
          </a:prstGeom>
          <a:noFill/>
          <a:ln/>
        </p:spPr>
        <p:txBody>
          <a:bodyPr wrap="none" lIns="136017" tIns="51054" rIns="136017" bIns="51054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Higher Purpose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6191231" y="2303134"/>
            <a:ext cx="2209819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Shared Value 与 ESG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6191231" y="2596028"/>
            <a:ext cx="22098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参考案例：南丰集团 / 周大福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6191231" y="3003221"/>
            <a:ext cx="2209819" cy="575072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将回收、环保、成本优势与消费者激励连接，将租户节能减排数据转化为可计量、可奖励的商业价值。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191231" y="3692593"/>
            <a:ext cx="2209819" cy="125016"/>
          </a:xfrm>
          <a:prstGeom prst="rect">
            <a:avLst/>
          </a:prstGeom>
          <a:noFill/>
          <a:ln/>
        </p:spPr>
        <p:txBody>
          <a:bodyPr wrap="square" lIns="68072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核心议题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6191231" y="3846184"/>
            <a:ext cx="2209819" cy="150019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如何把环境、商业回报和激励连接起来？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6191231" y="4110503"/>
            <a:ext cx="2209819" cy="125016"/>
          </a:xfrm>
          <a:prstGeom prst="rect">
            <a:avLst/>
          </a:prstGeom>
          <a:noFill/>
          <a:ln/>
        </p:spPr>
        <p:txBody>
          <a:bodyPr wrap="square" lIns="68072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适用对象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6191231" y="4264093"/>
            <a:ext cx="2209819" cy="150019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HR / CSR / 核心高管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0"/>
            <a:ext cx="7144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0" y="0"/>
            <a:ext cx="7144" cy="51435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71500" y="428625"/>
            <a:ext cx="4249582" cy="453628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1700" spc="-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路径 B：高管沉浸共创工作坊 (Hackathon)</a:t>
            </a:r>
            <a:endParaRPr lang="en-US" sz="1700" dirty="0"/>
          </a:p>
        </p:txBody>
      </p:sp>
      <p:sp>
        <p:nvSpPr>
          <p:cNvPr id="7" name="Shape 1"/>
          <p:cNvSpPr/>
          <p:nvPr/>
        </p:nvSpPr>
        <p:spPr>
          <a:xfrm>
            <a:off x="571500" y="1096566"/>
            <a:ext cx="642938" cy="2571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2"/>
          <p:cNvSpPr/>
          <p:nvPr/>
        </p:nvSpPr>
        <p:spPr>
          <a:xfrm>
            <a:off x="571500" y="1096566"/>
            <a:ext cx="642938" cy="257175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50" spc="1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PATH B</a:t>
            </a:r>
            <a:endParaRPr lang="en-US" sz="850" dirty="0"/>
          </a:p>
        </p:txBody>
      </p:sp>
      <p:sp>
        <p:nvSpPr>
          <p:cNvPr id="9" name="Text 3"/>
          <p:cNvSpPr/>
          <p:nvPr/>
        </p:nvSpPr>
        <p:spPr>
          <a:xfrm>
            <a:off x="571500" y="1525191"/>
            <a:ext cx="2428875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用"做"代替"听"</a:t>
            </a:r>
            <a:r>
              <a:rPr lang="en-US" sz="170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
</a:t>
            </a:r>
            <a:r>
              <a:rPr lang="en-US" sz="170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跨越认知鸿沟</a:t>
            </a:r>
            <a:endParaRPr lang="en-US" sz="1700" dirty="0"/>
          </a:p>
        </p:txBody>
      </p:sp>
      <p:sp>
        <p:nvSpPr>
          <p:cNvPr id="10" name="Text 4"/>
          <p:cNvSpPr/>
          <p:nvPr/>
        </p:nvSpPr>
        <p:spPr>
          <a:xfrm>
            <a:off x="571500" y="2290911"/>
            <a:ext cx="24288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与其听十场关于AI的讲座，不如让高管们组队，在48小时内用AI工具解决一个真实的业务问题。这是打破部门壁垒、快速建立技术认知的最有效方式。</a:t>
            </a:r>
            <a:endParaRPr lang="en-US" sz="800" dirty="0"/>
          </a:p>
        </p:txBody>
      </p:sp>
      <p:sp>
        <p:nvSpPr>
          <p:cNvPr id="11" name="Shape 5"/>
          <p:cNvSpPr/>
          <p:nvPr/>
        </p:nvSpPr>
        <p:spPr>
          <a:xfrm>
            <a:off x="3286125" y="1096566"/>
            <a:ext cx="2557463" cy="3761184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2" name="Shape 6"/>
          <p:cNvSpPr/>
          <p:nvPr/>
        </p:nvSpPr>
        <p:spPr>
          <a:xfrm>
            <a:off x="3286125" y="1096566"/>
            <a:ext cx="28575" cy="376118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7"/>
          <p:cNvSpPr/>
          <p:nvPr/>
        </p:nvSpPr>
        <p:spPr>
          <a:xfrm>
            <a:off x="3429000" y="1239441"/>
            <a:ext cx="22574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适用场景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3429000" y="1560909"/>
            <a:ext cx="22574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黑客松（Hackathon）形式特别适合以下管理痛点：</a:t>
            </a:r>
            <a:endParaRPr lang="en-US" sz="750" dirty="0"/>
          </a:p>
        </p:txBody>
      </p:sp>
      <p:sp>
        <p:nvSpPr>
          <p:cNvPr id="15" name="Shape 9"/>
          <p:cNvSpPr/>
          <p:nvPr/>
        </p:nvSpPr>
        <p:spPr>
          <a:xfrm>
            <a:off x="3429000" y="1975247"/>
            <a:ext cx="2257425" cy="588578"/>
          </a:xfrm>
          <a:prstGeom prst="rect">
            <a:avLst/>
          </a:prstGeom>
          <a:solidFill>
            <a:srgbClr val="2B6CB0">
              <a:alpha val="3000"/>
            </a:srgbClr>
          </a:solidFill>
          <a:ln w="9144">
            <a:solidFill>
              <a:srgbClr val="2B6CB0">
                <a:alpha val="10000"/>
              </a:srgbClr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1975247"/>
            <a:ext cx="642938" cy="57429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157663" y="2046684"/>
            <a:ext cx="1443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战略转型期</a:t>
            </a:r>
            <a:endParaRPr lang="en-US" sz="700" dirty="0"/>
          </a:p>
        </p:txBody>
      </p:sp>
      <p:sp>
        <p:nvSpPr>
          <p:cNvPr id="18" name="Text 11"/>
          <p:cNvSpPr/>
          <p:nvPr/>
        </p:nvSpPr>
        <p:spPr>
          <a:xfrm>
            <a:off x="4157663" y="2218134"/>
            <a:ext cx="1443038" cy="2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快速统一对新技术（如AI）的认知，探索业务落地可能。</a:t>
            </a:r>
            <a:endParaRPr lang="en-US" sz="650" dirty="0"/>
          </a:p>
        </p:txBody>
      </p:sp>
      <p:sp>
        <p:nvSpPr>
          <p:cNvPr id="19" name="Shape 12"/>
          <p:cNvSpPr/>
          <p:nvPr/>
        </p:nvSpPr>
        <p:spPr>
          <a:xfrm>
            <a:off x="3429000" y="2635262"/>
            <a:ext cx="2257425" cy="588578"/>
          </a:xfrm>
          <a:prstGeom prst="rect">
            <a:avLst/>
          </a:prstGeom>
          <a:solidFill>
            <a:srgbClr val="2B6CB0">
              <a:alpha val="3000"/>
            </a:srgbClr>
          </a:solidFill>
          <a:ln w="9144">
            <a:solidFill>
              <a:srgbClr val="2B6CB0">
                <a:alpha val="10000"/>
              </a:srgbClr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2635262"/>
            <a:ext cx="642938" cy="574291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157663" y="2706700"/>
            <a:ext cx="1443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部门墙严重</a:t>
            </a:r>
            <a:endParaRPr lang="en-US" sz="700" dirty="0"/>
          </a:p>
        </p:txBody>
      </p:sp>
      <p:sp>
        <p:nvSpPr>
          <p:cNvPr id="22" name="Text 14"/>
          <p:cNvSpPr/>
          <p:nvPr/>
        </p:nvSpPr>
        <p:spPr>
          <a:xfrm>
            <a:off x="4157663" y="2878150"/>
            <a:ext cx="1443038" cy="2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打破汇报层级，在"高压任务"下重建真实的沟通与信任。</a:t>
            </a:r>
            <a:endParaRPr lang="en-US" sz="650" dirty="0"/>
          </a:p>
        </p:txBody>
      </p:sp>
      <p:sp>
        <p:nvSpPr>
          <p:cNvPr id="23" name="Shape 15"/>
          <p:cNvSpPr/>
          <p:nvPr/>
        </p:nvSpPr>
        <p:spPr>
          <a:xfrm>
            <a:off x="3429000" y="3295278"/>
            <a:ext cx="2257425" cy="588578"/>
          </a:xfrm>
          <a:prstGeom prst="rect">
            <a:avLst/>
          </a:prstGeom>
          <a:solidFill>
            <a:srgbClr val="2B6CB0">
              <a:alpha val="3000"/>
            </a:srgbClr>
          </a:solidFill>
          <a:ln w="9144">
            <a:solidFill>
              <a:srgbClr val="2B6CB0">
                <a:alpha val="10000"/>
              </a:srgbClr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295278"/>
            <a:ext cx="642938" cy="57429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157663" y="3366715"/>
            <a:ext cx="1443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创新动力不足</a:t>
            </a:r>
            <a:endParaRPr lang="en-US" sz="700" dirty="0"/>
          </a:p>
        </p:txBody>
      </p:sp>
      <p:sp>
        <p:nvSpPr>
          <p:cNvPr id="26" name="Text 17"/>
          <p:cNvSpPr/>
          <p:nvPr/>
        </p:nvSpPr>
        <p:spPr>
          <a:xfrm>
            <a:off x="4157663" y="3538165"/>
            <a:ext cx="1443038" cy="2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亲身体验"从0到1"的创造过程，唤醒管理团队的自驱力。</a:t>
            </a:r>
            <a:endParaRPr lang="en-US" sz="650" dirty="0"/>
          </a:p>
        </p:txBody>
      </p:sp>
      <p:sp>
        <p:nvSpPr>
          <p:cNvPr id="27" name="Shape 18"/>
          <p:cNvSpPr/>
          <p:nvPr/>
        </p:nvSpPr>
        <p:spPr>
          <a:xfrm>
            <a:off x="6000750" y="1096566"/>
            <a:ext cx="2571750" cy="3761184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28" name="Shape 19"/>
          <p:cNvSpPr/>
          <p:nvPr/>
        </p:nvSpPr>
        <p:spPr>
          <a:xfrm>
            <a:off x="6000750" y="1096566"/>
            <a:ext cx="28575" cy="376118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9" name="Text 20"/>
          <p:cNvSpPr/>
          <p:nvPr/>
        </p:nvSpPr>
        <p:spPr>
          <a:xfrm>
            <a:off x="6157913" y="1239441"/>
            <a:ext cx="227171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前沿企业的真实实践</a:t>
            </a:r>
            <a:endParaRPr lang="en-US" sz="1050" dirty="0"/>
          </a:p>
        </p:txBody>
      </p:sp>
      <p:sp>
        <p:nvSpPr>
          <p:cNvPr id="30" name="Text 21"/>
          <p:cNvSpPr/>
          <p:nvPr/>
        </p:nvSpPr>
        <p:spPr>
          <a:xfrm>
            <a:off x="6157913" y="1560909"/>
            <a:ext cx="227171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领先的科技企业已将此类工作坊作为高管必修课，直接推动业务创新。</a:t>
            </a:r>
            <a:endParaRPr lang="en-US" sz="750" dirty="0"/>
          </a:p>
        </p:txBody>
      </p:sp>
      <p:sp>
        <p:nvSpPr>
          <p:cNvPr id="31" name="Shape 22"/>
          <p:cNvSpPr/>
          <p:nvPr/>
        </p:nvSpPr>
        <p:spPr>
          <a:xfrm>
            <a:off x="6157913" y="3143250"/>
            <a:ext cx="2271713" cy="1571625"/>
          </a:xfrm>
          <a:prstGeom prst="rect">
            <a:avLst/>
          </a:prstGeom>
          <a:solidFill>
            <a:srgbClr val="2B6CB0">
              <a:alpha val="5000"/>
            </a:srgbClr>
          </a:solidFill>
          <a:ln w="9144">
            <a:solidFill>
              <a:srgbClr val="2B6CB0">
                <a:alpha val="20000"/>
              </a:srgbClr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6272213" y="3271838"/>
            <a:ext cx="204311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案例：飞书内部的"业务AI黑客松"</a:t>
            </a:r>
            <a:endParaRPr lang="en-US" sz="800" dirty="0"/>
          </a:p>
        </p:txBody>
      </p:sp>
      <p:sp>
        <p:nvSpPr>
          <p:cNvPr id="33" name="Text 24"/>
          <p:cNvSpPr/>
          <p:nvPr/>
        </p:nvSpPr>
        <p:spPr>
          <a:xfrm>
            <a:off x="6272213" y="3486150"/>
            <a:ext cx="2043113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飞书不仅为技术人员，也为非技术背景的管理层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举办黑客松。高管们被要求组队，使用无代码工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具和AI智能体，在48小时内解决一个具体的流程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痛点（如审批流优化、客户数据分析）。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
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</a:t>
            </a:r>
            <a:r>
              <a:rPr lang="en-US" sz="650" b="1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结果：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产出的不是PPT报告，而是直接可用的AI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智能体。这种"亲手造物"的体验，让管理者深刻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理解了AI的边界与潜力。</a:t>
            </a:r>
            <a:endParaRPr lang="en-US" sz="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2135981" cy="382191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路径 C：体验类活动选项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71500" y="753666"/>
            <a:ext cx="7143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日常沟通常带有部门立场与KPI导向。建议用务实且参与感强的活动，在非正式场合帮助高管建立更自然的相互了解。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571500" y="1010841"/>
            <a:ext cx="1914525" cy="3961209"/>
          </a:xfrm>
          <a:prstGeom prst="rect">
            <a:avLst/>
          </a:prstGeom>
          <a:solidFill>
            <a:srgbClr val="FFFFFF">
              <a:alpha val="85000"/>
            </a:srgbClr>
          </a:solidFill>
          <a:ln w="9144">
            <a:solidFill>
              <a:srgbClr val="2B6CB0">
                <a:alpha val="2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1500" y="1868091"/>
            <a:ext cx="1914525" cy="4857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939528"/>
            <a:ext cx="168592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1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帆船 / 水上赛艇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85800" y="2157413"/>
            <a:ext cx="168592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3B3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动态协作与物理同频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685800" y="2468166"/>
            <a:ext cx="1685925" cy="891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绝对步调一致：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不依赖个人英雄主义，团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队必须完全听从指挥并保持节奏，直观映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射战略执行中的协同要求。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
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</a:t>
            </a:r>
            <a:r>
              <a:rPr lang="en-US" sz="650" b="1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打破层级角色：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在水上职位标签被弱化，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更容易展现真实性格与互助精神。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685800" y="4584892"/>
            <a:ext cx="1685925" cy="272858"/>
          </a:xfrm>
          <a:prstGeom prst="rect">
            <a:avLst/>
          </a:prstGeom>
          <a:solidFill>
            <a:srgbClr val="2B6CB0">
              <a:alpha val="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4584892"/>
            <a:ext cx="21431" cy="27285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9"/>
          <p:cNvSpPr/>
          <p:nvPr/>
        </p:nvSpPr>
        <p:spPr>
          <a:xfrm>
            <a:off x="757238" y="4656330"/>
            <a:ext cx="1543050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快速建立信任感与集体荣誉感。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2600325" y="1010841"/>
            <a:ext cx="1914525" cy="3961209"/>
          </a:xfrm>
          <a:prstGeom prst="rect">
            <a:avLst/>
          </a:prstGeom>
          <a:solidFill>
            <a:srgbClr val="FFFFFF">
              <a:alpha val="85000"/>
            </a:srgbClr>
          </a:solidFill>
          <a:ln w="9144">
            <a:solidFill>
              <a:srgbClr val="2B6CB0">
                <a:alpha val="2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00325" y="1868091"/>
            <a:ext cx="1914525" cy="4857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2"/>
          <p:cNvSpPr/>
          <p:nvPr/>
        </p:nvSpPr>
        <p:spPr>
          <a:xfrm>
            <a:off x="2714625" y="1939528"/>
            <a:ext cx="168592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1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即兴话剧体验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714625" y="2157413"/>
            <a:ext cx="168592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3B3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情境互动与真实表达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2714625" y="2468166"/>
            <a:ext cx="1685925" cy="1039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安全环境表达：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借助即兴设定，为高管提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供安全的“面具”，带来更自然、有人情味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的情绪和观点表达。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
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</a:t>
            </a:r>
            <a:r>
              <a:rPr lang="en-US" sz="650" b="1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倾听与快速反应：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要求全神贯注地倾听同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伴，并在此基础上建设性回应("Yes, 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and...")。</a:t>
            </a:r>
            <a:endParaRPr lang="en-US" sz="650" dirty="0"/>
          </a:p>
        </p:txBody>
      </p:sp>
      <p:sp>
        <p:nvSpPr>
          <p:cNvPr id="18" name="Shape 15"/>
          <p:cNvSpPr/>
          <p:nvPr/>
        </p:nvSpPr>
        <p:spPr>
          <a:xfrm>
            <a:off x="2714625" y="4454909"/>
            <a:ext cx="1685925" cy="402841"/>
          </a:xfrm>
          <a:prstGeom prst="rect">
            <a:avLst/>
          </a:prstGeom>
          <a:solidFill>
            <a:srgbClr val="2B6CB0">
              <a:alpha val="5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2714625" y="4454909"/>
            <a:ext cx="21431" cy="402841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0" name="Text 17"/>
          <p:cNvSpPr/>
          <p:nvPr/>
        </p:nvSpPr>
        <p:spPr>
          <a:xfrm>
            <a:off x="2786063" y="4526347"/>
            <a:ext cx="1543050" cy="2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改善沟通模式，培养包容的对话习惯。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4629150" y="1010841"/>
            <a:ext cx="1914525" cy="3961209"/>
          </a:xfrm>
          <a:prstGeom prst="rect">
            <a:avLst/>
          </a:prstGeom>
          <a:solidFill>
            <a:srgbClr val="FFFFFF">
              <a:alpha val="85000"/>
            </a:srgbClr>
          </a:solidFill>
          <a:ln w="9144">
            <a:solidFill>
              <a:srgbClr val="2B6CB0">
                <a:alpha val="2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29150" y="1868091"/>
            <a:ext cx="1914525" cy="4857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3" name="Text 20"/>
          <p:cNvSpPr/>
          <p:nvPr/>
        </p:nvSpPr>
        <p:spPr>
          <a:xfrm>
            <a:off x="4743450" y="1939528"/>
            <a:ext cx="168592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1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VR 沉浸式探索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43450" y="2157413"/>
            <a:ext cx="168592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3B3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前沿科技与未知挑战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4743450" y="2468166"/>
            <a:ext cx="1685925" cy="891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跨越物理边界：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在虚拟空间中共同面对未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知任务（如太空解密、深海探险），激发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团队在陌生环境下的解题能力。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
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</a:t>
            </a:r>
            <a:r>
              <a:rPr lang="en-US" sz="650" b="1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信息共享机制：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不同角色掌握不同线索，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强制要求高频、精准的跨角色信息同步。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4743450" y="4584892"/>
            <a:ext cx="1685925" cy="272858"/>
          </a:xfrm>
          <a:prstGeom prst="rect">
            <a:avLst/>
          </a:prstGeom>
          <a:solidFill>
            <a:srgbClr val="2B6CB0">
              <a:alpha val="5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4743450" y="4584892"/>
            <a:ext cx="21431" cy="27285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8" name="Text 25"/>
          <p:cNvSpPr/>
          <p:nvPr/>
        </p:nvSpPr>
        <p:spPr>
          <a:xfrm>
            <a:off x="4814888" y="4656330"/>
            <a:ext cx="1543050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锻炼复杂环境下的决策与信息整合。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6657975" y="1010841"/>
            <a:ext cx="1914525" cy="3961209"/>
          </a:xfrm>
          <a:prstGeom prst="rect">
            <a:avLst/>
          </a:prstGeom>
          <a:solidFill>
            <a:srgbClr val="FFFFFF">
              <a:alpha val="85000"/>
            </a:srgbClr>
          </a:solidFill>
          <a:ln w="9144">
            <a:solidFill>
              <a:srgbClr val="2B6CB0">
                <a:alpha val="20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657975" y="1868091"/>
            <a:ext cx="1914525" cy="4857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1" name="Text 28"/>
          <p:cNvSpPr/>
          <p:nvPr/>
        </p:nvSpPr>
        <p:spPr>
          <a:xfrm>
            <a:off x="6772275" y="1939528"/>
            <a:ext cx="168592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1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八段锦 &amp; 颂钵疗愈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772275" y="2157413"/>
            <a:ext cx="168592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3B3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身心能量与向内探索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6772275" y="2468166"/>
            <a:ext cx="1685925" cy="1039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动静结合的调息：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通过八段锦的肢体舒展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与气血导引，结合颂钵的声波共振，帮助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高管从高压状态中迅速抽离。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
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</a:t>
            </a:r>
            <a:r>
              <a:rPr lang="en-US" sz="650" b="1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向内探索与沉淀：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创造一个极度安静的场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域，让团队在共同的冥想中完成自我能量</a:t>
            </a: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的重启。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6772275" y="4454909"/>
            <a:ext cx="1685925" cy="402841"/>
          </a:xfrm>
          <a:prstGeom prst="rect">
            <a:avLst/>
          </a:prstGeom>
          <a:solidFill>
            <a:srgbClr val="2B6CB0">
              <a:alpha val="5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6772275" y="4454909"/>
            <a:ext cx="21431" cy="402841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6" name="Text 33"/>
          <p:cNvSpPr/>
          <p:nvPr/>
        </p:nvSpPr>
        <p:spPr>
          <a:xfrm>
            <a:off x="6843713" y="4526347"/>
            <a:ext cx="1543050" cy="2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深度放松，恢复高管团队的心智能量。</a:t>
            </a:r>
            <a:endParaRPr lang="en-US" sz="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2016268" cy="453628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1700" spc="-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复合式方案组合建议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571500" y="925116"/>
            <a:ext cx="6429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单一形式往往难以兼顾"拓展视野"与"团队融合"的双重诉求。我们建议将不同模块进行组合，形成完整的体验闭环。以下是三种时间维度的组合参考：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571500" y="1410891"/>
            <a:ext cx="2571750" cy="35182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410891"/>
            <a:ext cx="2571750" cy="285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4"/>
          <p:cNvSpPr/>
          <p:nvPr/>
        </p:nvSpPr>
        <p:spPr>
          <a:xfrm>
            <a:off x="714375" y="2096691"/>
            <a:ext cx="2286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组合一：知行合一之旅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14375" y="2346722"/>
            <a:ext cx="2286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63B3E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2.5 天行程（参访 + 共创）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714375" y="2696766"/>
            <a:ext cx="525066" cy="153591"/>
          </a:xfrm>
          <a:prstGeom prst="rect">
            <a:avLst/>
          </a:prstGeom>
          <a:solidFill>
            <a:srgbClr val="2B6CB0">
              <a:alpha val="1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14375" y="2696766"/>
            <a:ext cx="525066" cy="15359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Day 1 下午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714375" y="2893219"/>
            <a:ext cx="22860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标杆参访：</a:t>
            </a:r>
            <a:r>
              <a:rPr lang="en-US" sz="7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走进头部AI公司，直观感受敏捷组织与</a:t>
            </a:r>
            <a:r>
              <a:rPr lang="en-US" sz="7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前沿应用。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714375" y="3278981"/>
            <a:ext cx="1017984" cy="153591"/>
          </a:xfrm>
          <a:prstGeom prst="rect">
            <a:avLst/>
          </a:prstGeom>
          <a:solidFill>
            <a:srgbClr val="2B6CB0">
              <a:alpha val="1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14375" y="3278981"/>
            <a:ext cx="1017984" cy="15359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Day 2 - Day 3 (48小时)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714375" y="3475434"/>
            <a:ext cx="22860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高管黑客松：</a:t>
            </a:r>
            <a:r>
              <a:rPr lang="en-US" sz="7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趁热打铁，分组使用AI工具解决内部</a:t>
            </a:r>
            <a:r>
              <a:rPr lang="en-US" sz="7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真实的业务痛点。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14375" y="4212022"/>
            <a:ext cx="2286000" cy="602866"/>
          </a:xfrm>
          <a:prstGeom prst="rect">
            <a:avLst/>
          </a:prstGeom>
          <a:solidFill>
            <a:srgbClr val="2B6CB0">
              <a:alpha val="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714375" y="4212022"/>
            <a:ext cx="21431" cy="60286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4"/>
          <p:cNvSpPr/>
          <p:nvPr/>
        </p:nvSpPr>
        <p:spPr>
          <a:xfrm>
            <a:off x="800100" y="4297747"/>
            <a:ext cx="2114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核心价值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800100" y="4469197"/>
            <a:ext cx="2114550" cy="2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从"向外看"到"向内解"，逻辑连贯，产出明确的行动计划。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3286125" y="1410891"/>
            <a:ext cx="2571750" cy="35182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3286125" y="1410891"/>
            <a:ext cx="2571750" cy="285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1" name="Text 18"/>
          <p:cNvSpPr/>
          <p:nvPr/>
        </p:nvSpPr>
        <p:spPr>
          <a:xfrm>
            <a:off x="3429000" y="2096691"/>
            <a:ext cx="2286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组合二：动静结合之旅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429000" y="2346722"/>
            <a:ext cx="2286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63B3E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 天紧凑行程（运动 + 脑暴）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3429000" y="2696766"/>
            <a:ext cx="285750" cy="153591"/>
          </a:xfrm>
          <a:prstGeom prst="rect">
            <a:avLst/>
          </a:prstGeom>
          <a:solidFill>
            <a:srgbClr val="2B6CB0">
              <a:alpha val="1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3429000" y="2696766"/>
            <a:ext cx="285750" cy="15359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上午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3429000" y="2893219"/>
            <a:ext cx="22860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赛艇/即兴话剧：</a:t>
            </a:r>
            <a:r>
              <a:rPr lang="en-US" sz="7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通过高度默契的体验活动，卸下防</a:t>
            </a:r>
            <a:r>
              <a:rPr lang="en-US" sz="7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备，建立轻松沟通氛围。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3429000" y="3278981"/>
            <a:ext cx="285750" cy="153591"/>
          </a:xfrm>
          <a:prstGeom prst="rect">
            <a:avLst/>
          </a:prstGeom>
          <a:solidFill>
            <a:srgbClr val="2B6CB0">
              <a:alpha val="1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3429000" y="3278981"/>
            <a:ext cx="285750" cy="15359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下午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3429000" y="3475434"/>
            <a:ext cx="22860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AI企业参访：</a:t>
            </a:r>
            <a:r>
              <a:rPr lang="en-US" sz="7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对标行业先进，开拓高管对前沿技术</a:t>
            </a:r>
            <a:r>
              <a:rPr lang="en-US" sz="7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的认知边界。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3429000" y="4212022"/>
            <a:ext cx="2286000" cy="602866"/>
          </a:xfrm>
          <a:prstGeom prst="rect">
            <a:avLst/>
          </a:prstGeom>
          <a:solidFill>
            <a:srgbClr val="2B6CB0">
              <a:alpha val="5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429000" y="4212022"/>
            <a:ext cx="21431" cy="60286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1" name="Text 28"/>
          <p:cNvSpPr/>
          <p:nvPr/>
        </p:nvSpPr>
        <p:spPr>
          <a:xfrm>
            <a:off x="3514725" y="4297747"/>
            <a:ext cx="2114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核心价值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3514725" y="4469197"/>
            <a:ext cx="2114550" cy="2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时间成本低，节奏张弛有度，适合快速打破团队隔阂。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6000750" y="1410891"/>
            <a:ext cx="2571750" cy="35182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1"/>
          <p:cNvSpPr/>
          <p:nvPr/>
        </p:nvSpPr>
        <p:spPr>
          <a:xfrm>
            <a:off x="6000750" y="1410891"/>
            <a:ext cx="2571750" cy="285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5" name="Text 32"/>
          <p:cNvSpPr/>
          <p:nvPr/>
        </p:nvSpPr>
        <p:spPr>
          <a:xfrm>
            <a:off x="6143625" y="2096691"/>
            <a:ext cx="2286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组合三：科技穿越之旅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143625" y="2346722"/>
            <a:ext cx="2286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63B3E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 天沉浸行程（科技 + 体验）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6143625" y="2696766"/>
            <a:ext cx="285750" cy="153591"/>
          </a:xfrm>
          <a:prstGeom prst="rect">
            <a:avLst/>
          </a:prstGeom>
          <a:solidFill>
            <a:srgbClr val="2B6CB0">
              <a:alpha val="10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6143625" y="2696766"/>
            <a:ext cx="285750" cy="15359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上午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6143625" y="2893219"/>
            <a:ext cx="22860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AI企业参访：</a:t>
            </a:r>
            <a:r>
              <a:rPr lang="en-US" sz="7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对标行业先进，开拓高管对前沿技术</a:t>
            </a:r>
            <a:r>
              <a:rPr lang="en-US" sz="7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的认知边界。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6143625" y="3278981"/>
            <a:ext cx="285750" cy="153591"/>
          </a:xfrm>
          <a:prstGeom prst="rect">
            <a:avLst/>
          </a:prstGeom>
          <a:solidFill>
            <a:srgbClr val="2B6CB0">
              <a:alpha val="10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6143625" y="3278981"/>
            <a:ext cx="285750" cy="15359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下午</a:t>
            </a:r>
            <a:endParaRPr lang="en-US" sz="600" dirty="0"/>
          </a:p>
        </p:txBody>
      </p:sp>
      <p:sp>
        <p:nvSpPr>
          <p:cNvPr id="42" name="Text 39"/>
          <p:cNvSpPr/>
          <p:nvPr/>
        </p:nvSpPr>
        <p:spPr>
          <a:xfrm>
            <a:off x="6143625" y="3475434"/>
            <a:ext cx="22860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VR体验（唐宫夜宴）：</a:t>
            </a:r>
            <a:r>
              <a:rPr lang="en-US" sz="7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借助大空间XR技术，在虚实</a:t>
            </a:r>
            <a:r>
              <a:rPr lang="en-US" sz="7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结合中完成团队协作与文化沉浸。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6143625" y="4212022"/>
            <a:ext cx="2286000" cy="602866"/>
          </a:xfrm>
          <a:prstGeom prst="rect">
            <a:avLst/>
          </a:prstGeom>
          <a:solidFill>
            <a:srgbClr val="2B6CB0">
              <a:alpha val="5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143625" y="4212022"/>
            <a:ext cx="21431" cy="60286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5" name="Text 42"/>
          <p:cNvSpPr/>
          <p:nvPr/>
        </p:nvSpPr>
        <p:spPr>
          <a:xfrm>
            <a:off x="6229350" y="4297747"/>
            <a:ext cx="2114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核心价值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6229350" y="4469197"/>
            <a:ext cx="2114550" cy="2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以极具视觉冲击力的前沿科技，带来耳目一新的震撼体验。</a:t>
            </a:r>
            <a:endParaRPr lang="en-US" sz="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1309036" cy="482203"/>
          </a:xfrm>
          <a:prstGeom prst="rect">
            <a:avLst/>
          </a:prstGeom>
          <a:noFill/>
          <a:ln/>
        </p:spPr>
        <p:txBody>
          <a:bodyPr wrap="square" lIns="0" tIns="0" rIns="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700" spc="-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关于 Empact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571500" y="1053703"/>
            <a:ext cx="2714625" cy="435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spc="-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Empact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71500" y="1546622"/>
            <a:ext cx="271462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spc="1" kern="0" dirty="0">
                <a:solidFill>
                  <a:srgbClr val="2B6CB0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empowering greater impact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00088" y="2014538"/>
            <a:ext cx="258603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ESTABLISHED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00088" y="2171700"/>
            <a:ext cx="258603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2011 年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00088" y="2446734"/>
            <a:ext cx="258603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HEADQUARTERS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700088" y="2603897"/>
            <a:ext cx="258603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新加坡 (Singapore)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00088" y="2878931"/>
            <a:ext cx="258603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CHINA OFFICES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700088" y="3036094"/>
            <a:ext cx="258603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中国大陆及香港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00088" y="3311128"/>
            <a:ext cx="258603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CORE SERVICES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00088" y="3468291"/>
            <a:ext cx="258603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组织发展、领导力培养、定制化团队项目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571875" y="1053703"/>
            <a:ext cx="5000625" cy="314325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核心服务团队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571875" y="1539478"/>
            <a:ext cx="2443163" cy="1778794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3714750" y="1682353"/>
            <a:ext cx="514350" cy="51435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7" name="Text 14"/>
          <p:cNvSpPr/>
          <p:nvPr/>
        </p:nvSpPr>
        <p:spPr>
          <a:xfrm>
            <a:off x="3714750" y="1682353"/>
            <a:ext cx="5143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M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4343400" y="1682353"/>
            <a:ext cx="1528763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Maggie 杨祯慧 博士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343400" y="2210991"/>
            <a:ext cx="152876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Empact 中国区 CEO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343400" y="2432447"/>
            <a:ext cx="1528763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应用心理学博士，EMBA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343400" y="2632472"/>
            <a:ext cx="1528763" cy="51435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深耕组织发展与高管领导力，擅长将商业战略转化为组织能力。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129338" y="1539478"/>
            <a:ext cx="2443163" cy="1778794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4343400" y="2432447"/>
            <a:ext cx="357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2B6CB0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•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343400" y="2632472"/>
            <a:ext cx="357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2B6CB0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•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272213" y="1682353"/>
            <a:ext cx="514350" cy="51435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6" name="Text 23"/>
          <p:cNvSpPr/>
          <p:nvPr/>
        </p:nvSpPr>
        <p:spPr>
          <a:xfrm>
            <a:off x="6272213" y="1682353"/>
            <a:ext cx="5143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S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6900863" y="1682353"/>
            <a:ext cx="152876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Sofia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900863" y="1928813"/>
            <a:ext cx="152876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Empact 中国区核心团队成员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900863" y="2150269"/>
            <a:ext cx="1528763" cy="34290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专注高管体验设计与项目落地交付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900863" y="2150269"/>
            <a:ext cx="357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2B6CB0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•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542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2016268" cy="482203"/>
          </a:xfrm>
          <a:prstGeom prst="rect">
            <a:avLst/>
          </a:prstGeom>
          <a:noFill/>
          <a:ln/>
        </p:spPr>
        <p:txBody>
          <a:bodyPr wrap="square" lIns="0" tIns="0" rIns="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700" spc="-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服务能力与代表客户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571500" y="1053703"/>
            <a:ext cx="3571875" cy="342900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核心项目类型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71500" y="1596628"/>
            <a:ext cx="3571875" cy="778669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596628"/>
            <a:ext cx="21431" cy="778669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7" name="Text 4"/>
          <p:cNvSpPr/>
          <p:nvPr/>
        </p:nvSpPr>
        <p:spPr>
          <a:xfrm>
            <a:off x="657225" y="1682353"/>
            <a:ext cx="34004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高管团队建设与凝聚力项目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57225" y="1946672"/>
            <a:ext cx="3400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为核心决策层设计深度融合体验，打破部门壁垒，建立高压下的信任与默契。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71500" y="2461022"/>
            <a:ext cx="3571875" cy="778669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2461022"/>
            <a:ext cx="21431" cy="778669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1" name="Text 8"/>
          <p:cNvSpPr/>
          <p:nvPr/>
        </p:nvSpPr>
        <p:spPr>
          <a:xfrm>
            <a:off x="657225" y="2546747"/>
            <a:ext cx="34004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AI 时代组织能力建设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57225" y="2811066"/>
            <a:ext cx="3400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通过黑客松、工作坊等形式，帮助管理团队建立对AI工具的直观认知，探索工作方式的变革。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71500" y="3325416"/>
            <a:ext cx="3571875" cy="778669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71500" y="3325416"/>
            <a:ext cx="21431" cy="778669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2"/>
          <p:cNvSpPr/>
          <p:nvPr/>
        </p:nvSpPr>
        <p:spPr>
          <a:xfrm>
            <a:off x="657225" y="3411141"/>
            <a:ext cx="34004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定制化企业参访与学习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57225" y="3675459"/>
            <a:ext cx="3400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不仅是参观，更是带着业务问题走进标杆企业，通过深度交流获取外部视角的启发。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71500" y="4189809"/>
            <a:ext cx="3571875" cy="778669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571500" y="4189809"/>
            <a:ext cx="21431" cy="778669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9" name="Text 16"/>
          <p:cNvSpPr/>
          <p:nvPr/>
        </p:nvSpPr>
        <p:spPr>
          <a:xfrm>
            <a:off x="657225" y="4275534"/>
            <a:ext cx="34004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体验式领导力培养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57225" y="4539853"/>
            <a:ext cx="3400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将领导力议题（如复杂环境决策、资源协同）巧妙转化为场景化任务，在实战中淬炼管理能力。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572000" y="1053703"/>
            <a:ext cx="4000500" cy="342900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代表服务客户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572000" y="1596628"/>
            <a:ext cx="1276331" cy="571500"/>
          </a:xfrm>
          <a:prstGeom prst="rect">
            <a:avLst/>
          </a:prstGeom>
          <a:solidFill>
            <a:srgbClr val="FFFFFF"/>
          </a:solidFill>
          <a:ln w="9144">
            <a:solidFill>
              <a:srgbClr val="2B6CB0">
                <a:alpha val="1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0" y="1596628"/>
            <a:ext cx="1276331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50" spc="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Apple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934056" y="1596628"/>
            <a:ext cx="1276331" cy="571500"/>
          </a:xfrm>
          <a:prstGeom prst="rect">
            <a:avLst/>
          </a:prstGeom>
          <a:solidFill>
            <a:srgbClr val="FFFFFF"/>
          </a:solidFill>
          <a:ln w="9144">
            <a:solidFill>
              <a:srgbClr val="2B6CB0">
                <a:alpha val="1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34056" y="1596628"/>
            <a:ext cx="1276331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50" spc="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Google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296113" y="1596628"/>
            <a:ext cx="1276387" cy="571500"/>
          </a:xfrm>
          <a:prstGeom prst="rect">
            <a:avLst/>
          </a:prstGeom>
          <a:solidFill>
            <a:srgbClr val="FFFFFF"/>
          </a:solidFill>
          <a:ln w="9144">
            <a:solidFill>
              <a:srgbClr val="2B6CB0">
                <a:alpha val="1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96113" y="1596628"/>
            <a:ext cx="1276387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50" spc="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Citi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572000" y="2253853"/>
            <a:ext cx="1276331" cy="571500"/>
          </a:xfrm>
          <a:prstGeom prst="rect">
            <a:avLst/>
          </a:prstGeom>
          <a:solidFill>
            <a:srgbClr val="FFFFFF"/>
          </a:solidFill>
          <a:ln w="9144">
            <a:solidFill>
              <a:srgbClr val="2B6CB0">
                <a:alpha val="1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0" y="2253853"/>
            <a:ext cx="1276331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50" spc="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DBS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934056" y="2253853"/>
            <a:ext cx="1276331" cy="571500"/>
          </a:xfrm>
          <a:prstGeom prst="rect">
            <a:avLst/>
          </a:prstGeom>
          <a:solidFill>
            <a:srgbClr val="FFFFFF"/>
          </a:solidFill>
          <a:ln w="9144">
            <a:solidFill>
              <a:srgbClr val="2B6CB0">
                <a:alpha val="1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34056" y="2253853"/>
            <a:ext cx="1276331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50" spc="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J&amp;J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7296113" y="2253853"/>
            <a:ext cx="1276387" cy="571500"/>
          </a:xfrm>
          <a:prstGeom prst="rect">
            <a:avLst/>
          </a:prstGeom>
          <a:solidFill>
            <a:srgbClr val="FFFFFF"/>
          </a:solidFill>
          <a:ln w="9144">
            <a:solidFill>
              <a:srgbClr val="2B6CB0">
                <a:alpha val="1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296113" y="2253853"/>
            <a:ext cx="1276387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50" spc="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LinkedIn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4572000" y="2911078"/>
            <a:ext cx="1276331" cy="571500"/>
          </a:xfrm>
          <a:prstGeom prst="rect">
            <a:avLst/>
          </a:prstGeom>
          <a:solidFill>
            <a:srgbClr val="FFFFFF"/>
          </a:solidFill>
          <a:ln w="9144">
            <a:solidFill>
              <a:srgbClr val="2B6CB0">
                <a:alpha val="1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0" y="2911078"/>
            <a:ext cx="1276331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50" spc="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P&amp;G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5934056" y="2911078"/>
            <a:ext cx="1276331" cy="571500"/>
          </a:xfrm>
          <a:prstGeom prst="rect">
            <a:avLst/>
          </a:prstGeom>
          <a:solidFill>
            <a:srgbClr val="FFFFFF"/>
          </a:solidFill>
          <a:ln w="9144">
            <a:solidFill>
              <a:srgbClr val="2B6CB0">
                <a:alpha val="1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934056" y="2911078"/>
            <a:ext cx="1276331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50" spc="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Visa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7296113" y="2911078"/>
            <a:ext cx="1276387" cy="571500"/>
          </a:xfrm>
          <a:prstGeom prst="rect">
            <a:avLst/>
          </a:prstGeom>
          <a:solidFill>
            <a:srgbClr val="1A365D"/>
          </a:solidFill>
          <a:ln w="9144">
            <a:solidFill>
              <a:srgbClr val="2B6CB0">
                <a:alpha val="10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96113" y="2911078"/>
            <a:ext cx="1276387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50" spc="1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CapitaLand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4572000" y="3682603"/>
            <a:ext cx="842963" cy="271463"/>
          </a:xfrm>
          <a:prstGeom prst="rect">
            <a:avLst/>
          </a:prstGeom>
          <a:solidFill>
            <a:srgbClr val="2B6CB0">
              <a:alpha val="5000"/>
            </a:srgbClr>
          </a:solidFill>
          <a:ln w="9144">
            <a:solidFill>
              <a:srgbClr val="2B6CB0">
                <a:alpha val="20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572000" y="3682603"/>
            <a:ext cx="842963" cy="271463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科技与互联网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5486400" y="3682603"/>
            <a:ext cx="642938" cy="271463"/>
          </a:xfrm>
          <a:prstGeom prst="rect">
            <a:avLst/>
          </a:prstGeom>
          <a:solidFill>
            <a:srgbClr val="2B6CB0">
              <a:alpha val="5000"/>
            </a:srgbClr>
          </a:solidFill>
          <a:ln w="9144">
            <a:solidFill>
              <a:srgbClr val="2B6CB0">
                <a:alpha val="20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486400" y="3682603"/>
            <a:ext cx="642938" cy="271463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金融服务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6200775" y="3682603"/>
            <a:ext cx="642938" cy="271463"/>
          </a:xfrm>
          <a:prstGeom prst="rect">
            <a:avLst/>
          </a:prstGeom>
          <a:solidFill>
            <a:srgbClr val="2B6CB0">
              <a:alpha val="5000"/>
            </a:srgbClr>
          </a:solidFill>
          <a:ln w="9144">
            <a:solidFill>
              <a:srgbClr val="2B6CB0">
                <a:alpha val="20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200775" y="3682603"/>
            <a:ext cx="642938" cy="271463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医疗健康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6915150" y="3682603"/>
            <a:ext cx="742950" cy="271463"/>
          </a:xfrm>
          <a:prstGeom prst="rect">
            <a:avLst/>
          </a:prstGeom>
          <a:solidFill>
            <a:srgbClr val="2B6CB0">
              <a:alpha val="5000"/>
            </a:srgbClr>
          </a:solidFill>
          <a:ln w="9144">
            <a:solidFill>
              <a:srgbClr val="2B6CB0">
                <a:alpha val="20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915150" y="3682603"/>
            <a:ext cx="742950" cy="271463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快消与零售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7729538" y="3682603"/>
            <a:ext cx="742950" cy="271463"/>
          </a:xfrm>
          <a:prstGeom prst="rect">
            <a:avLst/>
          </a:prstGeom>
          <a:solidFill>
            <a:srgbClr val="2B6CB0">
              <a:alpha val="5000"/>
            </a:srgbClr>
          </a:solidFill>
          <a:ln w="9144">
            <a:solidFill>
              <a:srgbClr val="2B6CB0">
                <a:alpha val="20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729538" y="3682603"/>
            <a:ext cx="742950" cy="271463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地产与资管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3808512" cy="482203"/>
          </a:xfrm>
          <a:prstGeom prst="rect">
            <a:avLst/>
          </a:prstGeom>
          <a:noFill/>
          <a:ln/>
        </p:spPr>
        <p:txBody>
          <a:bodyPr wrap="square" lIns="0" tIns="0" rIns="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700" spc="-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案例参考：某头部医美公司领导力项目</a:t>
            </a:r>
            <a:endParaRPr lang="en-US" sz="1700" dirty="0"/>
          </a:p>
        </p:txBody>
      </p:sp>
      <p:sp>
        <p:nvSpPr>
          <p:cNvPr id="4" name="Shape 1"/>
          <p:cNvSpPr/>
          <p:nvPr/>
        </p:nvSpPr>
        <p:spPr>
          <a:xfrm>
            <a:off x="571500" y="982266"/>
            <a:ext cx="2571750" cy="4018359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2"/>
          <p:cNvSpPr/>
          <p:nvPr/>
        </p:nvSpPr>
        <p:spPr>
          <a:xfrm>
            <a:off x="742950" y="1125141"/>
            <a:ext cx="22288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1" kern="0" dirty="0">
                <a:solidFill>
                  <a:srgbClr val="FFFFFF">
                    <a:alpha val="80000"/>
                  </a:srgbClr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CASE STUDY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42950" y="1325166"/>
            <a:ext cx="2228850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区域管理者</a:t>
            </a:r>
            <a:r>
              <a:rPr lang="en-US" sz="150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
</a:t>
            </a:r>
            <a:r>
              <a:rPr lang="en-US" sz="150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变革领导力淬炼之旅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42963" y="1959508"/>
            <a:ext cx="21288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参与对象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842963" y="2130958"/>
            <a:ext cx="2128838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区域经理及以上核心管理层 (30-40人)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42963" y="2581015"/>
            <a:ext cx="21288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项目时长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842963" y="2752465"/>
            <a:ext cx="212883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4 天 3 晚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42950" y="4250531"/>
            <a:ext cx="2228850" cy="607219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业务背景：</a:t>
            </a: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 企业处于快速扩张与变革期，亟需</a:t>
            </a: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提升中高层管理者在复杂环境下的协同作战、</a:t>
            </a: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资源分配与敏捷判断能力。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429000" y="982266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不仅是户外活动，而是完整的管理项目设计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29000" y="1396603"/>
            <a:ext cx="357188" cy="357188"/>
          </a:xfrm>
          <a:prstGeom prst="ellipse">
            <a:avLst/>
          </a:prstGeom>
          <a:solidFill>
            <a:srgbClr val="FFFFFF"/>
          </a:solidFill>
          <a:ln w="18288">
            <a:solidFill>
              <a:srgbClr val="2B6CB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29000" y="1396603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01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900488" y="1396603"/>
            <a:ext cx="4672013" cy="775097"/>
          </a:xfrm>
          <a:prstGeom prst="rect">
            <a:avLst/>
          </a:prstGeom>
          <a:solidFill>
            <a:srgbClr val="FFFFFF">
              <a:alpha val="60000"/>
            </a:srgbClr>
          </a:solidFill>
          <a:ln w="9144">
            <a:solidFill>
              <a:srgbClr val="2B6CB0">
                <a:alpha val="1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14788" y="1482328"/>
            <a:ext cx="444341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前期深度诊断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014788" y="1728788"/>
            <a:ext cx="44434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通过关键岗位访谈与人才测评数据分析，精准定位团队在协作与领导力上的真实痛点，确保活动目标不偏离业务需求。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429000" y="2243138"/>
            <a:ext cx="357188" cy="357188"/>
          </a:xfrm>
          <a:prstGeom prst="ellipse">
            <a:avLst/>
          </a:prstGeom>
          <a:solidFill>
            <a:srgbClr val="FFFFFF"/>
          </a:solidFill>
          <a:ln w="18288">
            <a:solidFill>
              <a:srgbClr val="2B6CB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2243138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02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900488" y="2243138"/>
            <a:ext cx="4672013" cy="775097"/>
          </a:xfrm>
          <a:prstGeom prst="rect">
            <a:avLst/>
          </a:prstGeom>
          <a:solidFill>
            <a:srgbClr val="FFFFFF">
              <a:alpha val="60000"/>
            </a:srgbClr>
          </a:solidFill>
          <a:ln w="9144">
            <a:solidFill>
              <a:srgbClr val="2B6CB0">
                <a:alpha val="1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14788" y="2328863"/>
            <a:ext cx="444341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机制与情境设计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014788" y="2575322"/>
            <a:ext cx="44434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将"资源分配"、"信任建立"等管理议题，巧妙转化为路线行进中的情境任务与分组协作，让挑战自然发生。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3429000" y="3089672"/>
            <a:ext cx="357188" cy="357188"/>
          </a:xfrm>
          <a:prstGeom prst="ellipse">
            <a:avLst/>
          </a:prstGeom>
          <a:solidFill>
            <a:srgbClr val="FFFFFF"/>
          </a:solidFill>
          <a:ln w="18288">
            <a:solidFill>
              <a:srgbClr val="2B6C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29000" y="3089672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03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900488" y="3089672"/>
            <a:ext cx="4672013" cy="603647"/>
          </a:xfrm>
          <a:prstGeom prst="rect">
            <a:avLst/>
          </a:prstGeom>
          <a:solidFill>
            <a:srgbClr val="FFFFFF">
              <a:alpha val="60000"/>
            </a:srgbClr>
          </a:solidFill>
          <a:ln w="9144">
            <a:solidFill>
              <a:srgbClr val="2B6CB0">
                <a:alpha val="1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014788" y="3175397"/>
            <a:ext cx="444341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现场引导与复盘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014788" y="3421856"/>
            <a:ext cx="44434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专业引导师捕捉协作与判断行为，通过每日复盘将体验转化为可讨论的管理启发。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3429000" y="3864769"/>
            <a:ext cx="5143500" cy="514350"/>
          </a:xfrm>
          <a:prstGeom prst="rect">
            <a:avLst/>
          </a:prstGeom>
          <a:solidFill>
            <a:srgbClr val="2B6CB0">
              <a:alpha val="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3429000" y="3864769"/>
            <a:ext cx="28575" cy="51435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0" name="Text 27"/>
          <p:cNvSpPr/>
          <p:nvPr/>
        </p:nvSpPr>
        <p:spPr>
          <a:xfrm>
            <a:off x="3543300" y="3950494"/>
            <a:ext cx="4914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核心产出：项目不仅提升了团队韧性，更促使每位管理者输出针对实际业务的个人领导力行动计划。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3584488" cy="482203"/>
          </a:xfrm>
          <a:prstGeom prst="rect">
            <a:avLst/>
          </a:prstGeom>
          <a:noFill/>
          <a:ln/>
        </p:spPr>
        <p:txBody>
          <a:bodyPr wrap="square" lIns="0" tIns="0" rIns="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700" spc="-1" kern="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黑客松：为什么值得为高管设计一次</a:t>
            </a:r>
            <a:endParaRPr lang="en-US" sz="1700" dirty="0"/>
          </a:p>
        </p:txBody>
      </p:sp>
      <p:sp>
        <p:nvSpPr>
          <p:cNvPr id="4" name="Shape 1"/>
          <p:cNvSpPr/>
          <p:nvPr/>
        </p:nvSpPr>
        <p:spPr>
          <a:xfrm>
            <a:off x="571500" y="1053703"/>
            <a:ext cx="3214688" cy="1255737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2"/>
          <p:cNvSpPr/>
          <p:nvPr/>
        </p:nvSpPr>
        <p:spPr>
          <a:xfrm>
            <a:off x="742950" y="1225153"/>
            <a:ext cx="2871788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3B3E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什么是高管黑客松？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42950" y="1589484"/>
            <a:ext cx="2871788" cy="54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源于科技公司的工作方式。一组人在限定时间内围绕真实问题，分工协作，快速产出方案并展示。这不是让人写代码，而是用"做"代替"听"。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71500" y="2423740"/>
            <a:ext cx="3214688" cy="910828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2423740"/>
            <a:ext cx="21431" cy="91082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6"/>
          <p:cNvSpPr/>
          <p:nvPr/>
        </p:nvSpPr>
        <p:spPr>
          <a:xfrm>
            <a:off x="742950" y="2595190"/>
            <a:ext cx="287178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跨越概念，亲身体验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42950" y="2841650"/>
            <a:ext cx="287178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高管通常了解AI的概念，但缺乏亲身使用的机会。通过黑客松，高管以"体验者"身份感受AI工具如何改变工作流程。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71500" y="3420294"/>
            <a:ext cx="3214688" cy="910828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71500" y="3420294"/>
            <a:ext cx="21431" cy="91082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0"/>
          <p:cNvSpPr/>
          <p:nvPr/>
        </p:nvSpPr>
        <p:spPr>
          <a:xfrm>
            <a:off x="742950" y="3591744"/>
            <a:ext cx="287178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自然发生的跨部门协同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42950" y="3838203"/>
            <a:ext cx="287178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在共同解决高压任务的过程中，自然打破日常部门壁垒，形成真实的沟通与理解。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071938" y="1053703"/>
            <a:ext cx="4500563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Empact 的核心能力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193381" y="1557338"/>
            <a:ext cx="15359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01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432697" y="1553766"/>
            <a:ext cx="11572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前期：定义业务问题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193381" y="1893094"/>
            <a:ext cx="19645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与客户深度沟通，将抽象的战略挑战转化为适合在一天内解决的具体业务问题，并设计合理的分组任务与角色。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486525" y="1557338"/>
            <a:ext cx="17859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02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750844" y="1553766"/>
            <a:ext cx="11572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准备：资源与工具包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486525" y="1893094"/>
            <a:ext cx="19645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为非技术背景的高管准备易用的AI工具包，安排专业的引导师和技术支持，确保体验流畅。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193381" y="3066455"/>
            <a:ext cx="17859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03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457700" y="3062883"/>
            <a:ext cx="11572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执行：全程引导控场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193381" y="3402211"/>
            <a:ext cx="19645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从破冰、共创到最终展示，精准控制每一环节的节奏，全程引导，确保每组产出有质量。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486525" y="3066455"/>
            <a:ext cx="18216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04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754416" y="3062883"/>
            <a:ext cx="11572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复盘：转化管理启发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486525" y="3402211"/>
            <a:ext cx="19645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将一天的工具体验，转化为对组织能力建设、流程优化的深刻反思，形成可带走的管理启发。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071938" y="4450556"/>
            <a:ext cx="4500563" cy="550069"/>
          </a:xfrm>
          <a:prstGeom prst="rect">
            <a:avLst/>
          </a:prstGeom>
          <a:solidFill>
            <a:srgbClr val="2B6CB0">
              <a:alpha val="5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4071938" y="4450556"/>
            <a:ext cx="4500563" cy="550069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B6CB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参考背景：字节跳动、飞书等公司已将类似工作坊纳入管理层培训体系，帮助管理者跨越认知鸿沟。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23617" y="2085975"/>
            <a:ext cx="2696766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500" spc="3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THANK YOU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3552230" y="2839641"/>
            <a:ext cx="203954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spc="2" kern="0" dirty="0">
                <a:solidFill>
                  <a:srgbClr val="63B3ED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Empact × CapitaLand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2026-07-16T04:39:04Z</dcterms:created>
  <dcterms:modified xsi:type="dcterms:W3CDTF">2026-07-16T04:39:04Z</dcterms:modified>
</cp:coreProperties>
</file>