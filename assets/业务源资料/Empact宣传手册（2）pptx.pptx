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60" r:id="rId6"/>
    <p:sldId id="266" r:id="rId7"/>
    <p:sldId id="267" r:id="rId8"/>
    <p:sldId id="263" r:id="rId9"/>
    <p:sldId id="265" r:id="rId10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9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76" y="1143000"/>
            <a:ext cx="2137048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7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2.xml"/><Relationship Id="rId5" Type="http://schemas.openxmlformats.org/officeDocument/2006/relationships/image" Target="../media/image2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image" Target="../media/image2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81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2.png"/><Relationship Id="rId2" Type="http://schemas.openxmlformats.org/officeDocument/2006/relationships/tags" Target="../tags/tag83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image" Target="../media/image2.png"/><Relationship Id="rId2" Type="http://schemas.openxmlformats.org/officeDocument/2006/relationships/tags" Target="../tags/tag91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2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c57bc5bf33df27c5f11bdec0452e45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045" y="1263650"/>
            <a:ext cx="2560955" cy="27101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70" y="2228215"/>
            <a:ext cx="5511800" cy="1569085"/>
          </a:xfrm>
        </p:spPr>
        <p:txBody>
          <a:bodyPr/>
          <a:p>
            <a:r>
              <a:rPr lang="en-US" altLang="zh-CN"/>
              <a:t>Empact </a:t>
            </a:r>
            <a:r>
              <a:rPr lang="zh-CN" altLang="en-US"/>
              <a:t>青少年成长与赛事服务手册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4791034"/>
            <a:ext cx="5512050" cy="2126285"/>
          </a:xfrm>
        </p:spPr>
        <p:txBody>
          <a:bodyPr/>
          <a:p>
            <a:r>
              <a:rPr lang="zh-CN" altLang="en-US"/>
              <a:t>赋能成长・链接国际・创造价值</a:t>
            </a:r>
            <a:endParaRPr lang="zh-CN" altLang="en-US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6360" y="5495290"/>
            <a:ext cx="1604645" cy="7175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42225" y="1516008"/>
            <a:ext cx="6170175" cy="6872735"/>
          </a:xfrm>
        </p:spPr>
        <p:txBody>
          <a:bodyPr>
            <a:normAutofit fontScale="90000" lnSpcReduction="10000"/>
          </a:bodyPr>
          <a:p>
            <a:pPr marL="0" indent="0" algn="l">
              <a:buNone/>
            </a:pPr>
            <a:r>
              <a:rPr lang="zh-CN" altLang="en-US" sz="1800"/>
              <a:t>公司概览</a:t>
            </a:r>
            <a:r>
              <a:rPr lang="en-US" altLang="zh-CN" sz="1800"/>
              <a:t> </a:t>
            </a:r>
            <a:r>
              <a:rPr lang="zh-CN" altLang="en-US" sz="1800"/>
              <a:t>📊</a:t>
            </a:r>
            <a:r>
              <a:rPr lang="en-US" altLang="zh-CN" sz="1800"/>
              <a:t>  </a:t>
            </a:r>
            <a:r>
              <a:rPr lang="en-US" altLang="zh-CN"/>
              <a:t>     </a:t>
            </a:r>
            <a:r>
              <a:rPr lang="zh-CN" altLang="en-US"/>
              <a:t>	</a:t>
            </a:r>
            <a:r>
              <a:rPr lang="en-US" altLang="zh-CN"/>
              <a:t>                                                </a:t>
            </a:r>
            <a:endParaRPr lang="en-US" altLang="zh-CN"/>
          </a:p>
          <a:p>
            <a:pPr marL="0" indent="0" algn="l">
              <a:buNone/>
            </a:pPr>
            <a:r>
              <a:rPr lang="zh-CN" altLang="en-US" sz="1800"/>
              <a:t>业务介绍</a:t>
            </a:r>
            <a:r>
              <a:rPr lang="en-US" altLang="zh-CN" sz="1800"/>
              <a:t> </a:t>
            </a:r>
            <a:r>
              <a:rPr lang="zh-CN" altLang="en-US" sz="1800"/>
              <a:t>🧩</a:t>
            </a:r>
            <a:r>
              <a:rPr lang="zh-CN" altLang="en-US"/>
              <a:t>	</a:t>
            </a:r>
            <a:r>
              <a:rPr lang="en-US" altLang="zh-CN"/>
              <a:t>                                                </a:t>
            </a:r>
            <a:endParaRPr lang="en-US" altLang="zh-CN"/>
          </a:p>
          <a:p>
            <a:pPr marL="0" indent="0" algn="l">
              <a:buNone/>
            </a:pPr>
            <a:r>
              <a:rPr lang="zh-CN" altLang="en-US" sz="1800"/>
              <a:t>重点推荐赛事（配套专项服务）🏆</a:t>
            </a:r>
            <a:r>
              <a:rPr lang="en-US" altLang="zh-CN" sz="1800"/>
              <a:t> </a:t>
            </a:r>
            <a:r>
              <a:rPr lang="en-US" altLang="zh-CN"/>
              <a:t>                              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1. AIGC </a:t>
            </a:r>
            <a:r>
              <a:rPr lang="zh-CN" altLang="en-US"/>
              <a:t>白名单赛事	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2. CTB（</a:t>
            </a:r>
            <a:r>
              <a:rPr lang="zh-CN" altLang="en-US"/>
              <a:t>全球青年研究创新论坛）	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3. Diamond Challenge（</a:t>
            </a:r>
            <a:r>
              <a:rPr lang="zh-CN" altLang="en-US"/>
              <a:t>钻石挑战全球青少年商业竞赛）	</a:t>
            </a:r>
            <a:endParaRPr lang="zh-CN" altLang="en-US"/>
          </a:p>
          <a:p>
            <a:pPr marL="0" indent="0" algn="l">
              <a:buNone/>
            </a:pPr>
            <a:r>
              <a:rPr lang="en-US" altLang="zh-CN"/>
              <a:t>4. ABS </a:t>
            </a:r>
            <a:r>
              <a:rPr lang="zh-CN" altLang="en-US"/>
              <a:t>商赛（商业挑战赛事）</a:t>
            </a:r>
            <a:endParaRPr lang="zh-CN" altLang="en-US"/>
          </a:p>
          <a:p>
            <a:pPr marL="0" indent="0" algn="l">
              <a:buNone/>
            </a:pPr>
            <a:r>
              <a:rPr lang="zh-CN" altLang="en-US">
                <a:sym typeface="+mn-ea"/>
              </a:rPr>
              <a:t>5.复兴远见者杯</a:t>
            </a:r>
            <a:endParaRPr lang="zh-CN" altLang="en-US"/>
          </a:p>
          <a:p>
            <a:pPr marL="0" indent="0" algn="l">
              <a:buNone/>
            </a:pPr>
            <a:r>
              <a:rPr lang="en-US" altLang="zh-CN">
                <a:sym typeface="+mn-ea"/>
              </a:rPr>
              <a:t>6.ESDP</a:t>
            </a:r>
            <a:r>
              <a:rPr lang="zh-CN" altLang="en-US">
                <a:sym typeface="+mn-ea"/>
              </a:rPr>
              <a:t>演讲 </a:t>
            </a:r>
            <a:endParaRPr lang="zh-CN" altLang="en-US">
              <a:sym typeface="+mn-ea"/>
            </a:endParaRPr>
          </a:p>
          <a:p>
            <a:pPr marL="0" indent="0" algn="l">
              <a:buNone/>
            </a:pPr>
            <a:r>
              <a:rPr lang="en-US" altLang="zh-CN">
                <a:sym typeface="+mn-ea"/>
              </a:rPr>
              <a:t>7.</a:t>
            </a:r>
            <a:r>
              <a:rPr lang="zh-CN" altLang="en-US">
                <a:sym typeface="+mn-ea"/>
              </a:rPr>
              <a:t>希望之星</a:t>
            </a:r>
            <a:endParaRPr lang="zh-CN" altLang="en-US">
              <a:sym typeface="+mn-ea"/>
            </a:endParaRPr>
          </a:p>
          <a:p>
            <a:pPr marL="0" indent="0" algn="l">
              <a:buNone/>
            </a:pPr>
            <a:r>
              <a:rPr lang="en-US" altLang="zh-CN">
                <a:sym typeface="+mn-ea"/>
              </a:rPr>
              <a:t>8.</a:t>
            </a:r>
            <a:r>
              <a:rPr lang="zh-CN" altLang="en-US">
                <a:sym typeface="+mn-ea"/>
              </a:rPr>
              <a:t>康宝莱</a:t>
            </a:r>
            <a:endParaRPr lang="zh-CN" altLang="en-US">
              <a:sym typeface="+mn-ea"/>
            </a:endParaRPr>
          </a:p>
          <a:p>
            <a:pPr marL="0" indent="0" algn="l">
              <a:buNone/>
            </a:pPr>
            <a:r>
              <a:rPr lang="en-US" altLang="zh-CN">
                <a:sym typeface="+mn-ea"/>
              </a:rPr>
              <a:t>9.</a:t>
            </a:r>
            <a:r>
              <a:rPr lang="zh-CN" altLang="en-US">
                <a:sym typeface="+mn-ea"/>
              </a:rPr>
              <a:t>阿思丹商赛</a:t>
            </a:r>
            <a:endParaRPr lang="zh-CN" altLang="en-US"/>
          </a:p>
          <a:p>
            <a:pPr marL="0" indent="0" algn="l">
              <a:buNone/>
            </a:pPr>
            <a:r>
              <a:rPr lang="zh-CN" altLang="en-US" sz="1800"/>
              <a:t>四、配套服务详情🛠️</a:t>
            </a:r>
            <a:r>
              <a:rPr lang="zh-CN" altLang="en-US"/>
              <a:t>	</a:t>
            </a:r>
            <a:endParaRPr lang="zh-CN" altLang="en-US"/>
          </a:p>
          <a:p>
            <a:pPr marL="0" indent="0" algn="l">
              <a:buNone/>
            </a:pPr>
            <a:r>
              <a:rPr lang="zh-CN" altLang="en-US"/>
              <a:t>1. 赛事传播支持	</a:t>
            </a:r>
            <a:endParaRPr lang="zh-CN" altLang="en-US"/>
          </a:p>
          <a:p>
            <a:pPr marL="0" indent="0" algn="l">
              <a:buNone/>
            </a:pPr>
            <a:r>
              <a:rPr lang="zh-CN" altLang="en-US"/>
              <a:t>2. 专项培训课程	</a:t>
            </a:r>
            <a:endParaRPr lang="zh-CN" altLang="en-US"/>
          </a:p>
          <a:p>
            <a:pPr marL="0" indent="0" algn="l">
              <a:buNone/>
            </a:pPr>
            <a:r>
              <a:rPr lang="zh-CN" altLang="en-US"/>
              <a:t>3. 赛事申请服务	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2225" y="566802"/>
            <a:ext cx="6170175" cy="1018953"/>
          </a:xfrm>
        </p:spPr>
        <p:txBody>
          <a:bodyPr/>
          <a:p>
            <a:r>
              <a:rPr lang="zh-CN" altLang="en-US"/>
              <a:t>公司概览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42265" y="1585595"/>
            <a:ext cx="6170295" cy="1687195"/>
          </a:xfrm>
        </p:spPr>
        <p:txBody>
          <a:bodyPr/>
          <a:p>
            <a:pPr marL="0" indent="0">
              <a:buNone/>
            </a:pPr>
            <a:r>
              <a:rPr lang="en-US" altLang="zh-CN"/>
              <a:t>Empact</a:t>
            </a:r>
            <a:r>
              <a:rPr lang="zh-CN" altLang="en-US"/>
              <a:t>中国区以推动体验式公益与志愿者文化发展为核心，聚焦青少年成长赋能与企业社会责任两大方向，凭借专业师资、完善服务体系与丰富行业资源，深耕青少年素养培育与赛事服务领域，致力于搭建兼具国际视野与本土实践的公益平台，成为青少年成长路上的专业伙伴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42225" y="3282062"/>
            <a:ext cx="6170175" cy="1018953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7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业务介绍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265" y="4310380"/>
            <a:ext cx="6170295" cy="451421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Empact</a:t>
            </a:r>
            <a:r>
              <a:rPr lang="zh-CN" altLang="en-US"/>
              <a:t>中国区业务覆盖企业与青少年两大板块：为企业提供志愿者服务项目与专业</a:t>
            </a:r>
            <a:r>
              <a:rPr lang="en-US" altLang="zh-CN"/>
              <a:t>CSR</a:t>
            </a:r>
            <a:r>
              <a:rPr lang="zh-CN" altLang="en-US"/>
              <a:t>咨询，助力企业提升社会公益策划与执行能力；面向青少年，通过</a:t>
            </a:r>
            <a:r>
              <a:rPr lang="en-US" altLang="zh-CN"/>
              <a:t>TEDx</a:t>
            </a:r>
            <a:r>
              <a:rPr lang="zh-CN" altLang="en-US"/>
              <a:t>演讲支持、</a:t>
            </a:r>
            <a:r>
              <a:rPr lang="en-US" altLang="zh-CN"/>
              <a:t>Empact</a:t>
            </a:r>
            <a:r>
              <a:rPr lang="zh-CN" altLang="en-US"/>
              <a:t>少年说项目及演讲赋能培训营，系统培养公众表达能力与领导力；围绕联合国可持续发展目标（</a:t>
            </a:r>
            <a:r>
              <a:rPr lang="en-US" altLang="zh-CN"/>
              <a:t>SDGs），</a:t>
            </a:r>
            <a:r>
              <a:rPr lang="zh-CN" altLang="en-US"/>
              <a:t>在香港、新加坡等地开展社创领袖计划，打造中学生</a:t>
            </a:r>
            <a:r>
              <a:rPr lang="en-US" altLang="zh-CN"/>
              <a:t>Social Innovation Camp</a:t>
            </a:r>
            <a:r>
              <a:rPr lang="zh-CN" altLang="en-US"/>
              <a:t>与大学生社会创新专题实训及实习项目，同步推出本土社会创新月月营、国际青年组织导师培训与</a:t>
            </a:r>
            <a:r>
              <a:rPr lang="en-US" altLang="zh-CN"/>
              <a:t>SDGs</a:t>
            </a:r>
            <a:r>
              <a:rPr lang="zh-CN" altLang="en-US"/>
              <a:t>主题课程，推动社会创新理念的普及与实践，该项目旨在系统性提升青少年的社会创新思维、跨文化协作能力与问题解决能力；此外，我们积极与非营利组织合作开发创新型社会实践活动，并参与推动公益行业影响力体系与指标的建设，希望通过多元、专业的服务连接企业、青少年与社会创新，共同创造可持续的社会价值。自2026年5月至7月，我们重点推进盲人足球项目，以社创培养、活动育人、</a:t>
            </a:r>
            <a:r>
              <a:rPr lang="en-US" altLang="zh-CN"/>
              <a:t>AI</a:t>
            </a:r>
            <a:r>
              <a:rPr lang="zh-CN" altLang="en-US"/>
              <a:t>实战为核心方向，以实践项目为载体，引导青少年关注社会、提升综合能力，明确育人目标，助力青少年成长为有责任、有能力、有温度的新时代青年。</a:t>
            </a:r>
            <a:endParaRPr lang="zh-CN" altLang="en-US"/>
          </a:p>
        </p:txBody>
      </p:sp>
      <p:pic>
        <p:nvPicPr>
          <p:cNvPr id="6" name="图片 5" descr="ffa42d4b3654e6bcf348f993737b577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2225" y="717297"/>
            <a:ext cx="6170175" cy="1018953"/>
          </a:xfrm>
        </p:spPr>
        <p:txBody>
          <a:bodyPr/>
          <a:p>
            <a:r>
              <a:rPr lang="zh-CN" altLang="en-US"/>
              <a:t>重点推荐赛事（配套专项服务）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342265" y="3481070"/>
            <a:ext cx="2912110" cy="196151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比赛内容：聚焦人工智能生成内容领域，涵盖</a:t>
            </a:r>
            <a:r>
              <a:rPr lang="en-US" altLang="zh-CN"/>
              <a:t>AI</a:t>
            </a:r>
            <a:r>
              <a:rPr lang="zh-CN" altLang="en-US"/>
              <a:t>创意设计、</a:t>
            </a:r>
            <a:r>
              <a:rPr lang="en-US" altLang="zh-CN"/>
              <a:t>AI</a:t>
            </a:r>
            <a:r>
              <a:rPr lang="zh-CN" altLang="en-US"/>
              <a:t>文案创作、</a:t>
            </a:r>
            <a:r>
              <a:rPr lang="en-US" altLang="zh-CN"/>
              <a:t>AI</a:t>
            </a:r>
            <a:r>
              <a:rPr lang="zh-CN" altLang="en-US"/>
              <a:t>技术应用等多个赛道，鼓励青少年发挥创意，运用</a:t>
            </a:r>
            <a:r>
              <a:rPr lang="en-US" altLang="zh-CN"/>
              <a:t>AI</a:t>
            </a:r>
            <a:r>
              <a:rPr lang="zh-CN" altLang="en-US"/>
              <a:t>完成作品创作，锻炼科技素养与创新思维。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3606800" y="3512185"/>
            <a:ext cx="2912110" cy="14712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比赛含金量：官方白名单赛事，认可度高，获奖证书可作为青少年科技素养、创新能力和综测评分的重要证明，助力升学、留学背景提升，拓宽未来发展路径。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2265" y="1736090"/>
            <a:ext cx="602297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 defTabSz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None/>
            </a:pPr>
            <a:r>
              <a:rPr lang="en-US" altLang="zh-CN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sym typeface="+mn-ea"/>
              </a:rPr>
              <a:t>我们为以下赛事提供全方位配套服务，包括集中课程培训、一对一精准指导、赛事申请全程代办，全程护航青少年参赛，高效提升参赛竞争力，助力斩获佳绩、积累优质背景。</a:t>
            </a:r>
            <a:endParaRPr lang="en-US" altLang="zh-CN" sz="1600" spc="150">
              <a:solidFill>
                <a:schemeClr val="tx1">
                  <a:lumMod val="65000"/>
                  <a:lumOff val="35000"/>
                </a:schemeClr>
              </a:solidFill>
              <a:uFillTx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39340" y="3112770"/>
            <a:ext cx="217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1. AIGC </a:t>
            </a:r>
            <a:r>
              <a:rPr lang="zh-CN" altLang="en-US">
                <a:sym typeface="+mn-ea"/>
              </a:rPr>
              <a:t>白名单赛事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736725" y="5243195"/>
            <a:ext cx="3516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2. CTB（</a:t>
            </a:r>
            <a:r>
              <a:rPr lang="zh-CN" altLang="en-US">
                <a:sym typeface="+mn-ea"/>
              </a:rPr>
              <a:t>全球青年研究创新论坛）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45490" y="7480935"/>
            <a:ext cx="591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None/>
            </a:pPr>
            <a:r>
              <a:rPr lang="zh-CN" altLang="en-US">
                <a:sym typeface="+mn-ea"/>
              </a:rPr>
              <a:t>3. Diamond Challenge（钻石挑战全球青少年商业竞赛）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42265" y="5810885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比赛内容：以“研究性学习”为核心，引导青少年围绕社会热点、学术领域等方向，开展自主研究、团队协作，完成研究报告并进行展示答辩，提升研究能力、表达能力与协作能力。</a:t>
            </a:r>
            <a:endParaRPr lang="zh-CN" altLang="en-US"/>
          </a:p>
        </p:txBody>
      </p:sp>
      <p:sp>
        <p:nvSpPr>
          <p:cNvPr id="12" name="内容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082790" y="5732780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内容占位符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61950" y="7933055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比赛内容：</a:t>
            </a:r>
            <a:r>
              <a:rPr lang="zh-CN" altLang="en-US">
                <a:sym typeface="+mn-ea"/>
              </a:rPr>
              <a:t>面向青少年的全球顶级商业竞赛，涵盖商业创意策划、社会企业创新、创业实践等板块，要求团队合作完成商业方案设计、展示与答辩，培养商业思维与实践能力。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4" name="内容占位符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06800" y="5810885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比赛含金量：全球知名青少年学术赛事，覆盖全球多所顶尖院校，获奖经历极具含金量，能够充分展现青少年的学术潜力与综合素养，深受国内外院校认可。</a:t>
            </a:r>
            <a:endParaRPr lang="zh-CN" altLang="en-US"/>
          </a:p>
        </p:txBody>
      </p:sp>
      <p:sp>
        <p:nvSpPr>
          <p:cNvPr id="15" name="内容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600450" y="7933055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比赛含金量：</a:t>
            </a:r>
            <a:r>
              <a:rPr lang="zh-CN" altLang="en-US">
                <a:sym typeface="+mn-ea"/>
              </a:rPr>
              <a:t>全球认可度极高，赛事资源丰富，获奖团队可获得顶尖院校推荐信、商业实践资源等，是提升商业素养、积累创业经验、增强留学/升学竞争力的优质平台。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342265" y="1407795"/>
            <a:ext cx="2912110" cy="196151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比赛内容：聚焦商科核心能力，涵盖市场营销、财务管理、企业运营等多个模块，通过模拟商业场景、案例分析、团队竞技等形式，提升青少年的商业认知与实战能力。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3606800" y="1438910"/>
            <a:ext cx="2912110" cy="1471295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比赛含金量：针对性极强的商科专项赛事，证书认可度高，能够有效提升青少年商科素养，为未来申请商科相关专业、从事商业相关工作奠定坚实基础，是留学背景提升的优质选择。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78330" y="953135"/>
            <a:ext cx="3101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None/>
            </a:pPr>
            <a:r>
              <a:rPr lang="zh-CN" altLang="en-US">
                <a:sym typeface="+mn-ea"/>
              </a:rPr>
              <a:t>4. ABS 商赛（商业挑战赛事）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534920" y="3374390"/>
            <a:ext cx="1885315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algn="l">
              <a:buClrTx/>
              <a:buSzTx/>
              <a:buNone/>
            </a:pPr>
            <a:r>
              <a:rPr lang="zh-CN" altLang="en-US">
                <a:sym typeface="+mn-ea"/>
              </a:rPr>
              <a:t>5.复兴远见者杯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26995" y="6111875"/>
            <a:ext cx="160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6.ESDP</a:t>
            </a:r>
            <a:r>
              <a:rPr lang="zh-CN" altLang="en-US">
                <a:sym typeface="+mn-ea"/>
              </a:rPr>
              <a:t>演讲 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265" y="4029075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zh-CN" altLang="en-US">
                <a:sym typeface="+mn-ea"/>
              </a:rPr>
              <a:t>比赛内容：聚焦青少年社会创新与可持续发展议题，引导参与者围绕社区、环保、公益等真实社会问题，提出兼具可行性与创新性的解决方案，锻炼社会洞察力、团队协作与项目落地能力。</a:t>
            </a:r>
            <a:endParaRPr lang="zh-CN" altLang="en-US"/>
          </a:p>
        </p:txBody>
      </p:sp>
      <p:sp>
        <p:nvSpPr>
          <p:cNvPr id="12" name="内容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082790" y="5732780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内容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1950" y="6699885"/>
            <a:ext cx="2912110" cy="159067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2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比赛内容：以英语演讲为核心形式，涵盖主题演讲、即兴演讲、问答互动等多个环节，鼓励青少年用英语表达观点、传递思想，锻炼语言表达、逻辑思辨与公众沟通能力。</a:t>
            </a:r>
            <a:endParaRPr lang="zh-CN" altLang="en-US"/>
          </a:p>
        </p:txBody>
      </p:sp>
      <p:sp>
        <p:nvSpPr>
          <p:cNvPr id="14" name="内容占位符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606800" y="4029075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buClrTx/>
              <a:buSzTx/>
              <a:buNone/>
            </a:pPr>
            <a:r>
              <a:rPr lang="zh-CN" altLang="en-US">
                <a:sym typeface="+mn-ea"/>
              </a:rPr>
              <a:t>比赛含金量：头部企业发起的权威社会创新赛事，获得复星集团及合作公益平台的背书，优秀项目有机会获得孵化支持与资源对接，获奖经历可体现青少年的社会责任感与实践能力，为升学、留学背景增添差异化亮点。</a:t>
            </a:r>
            <a:endParaRPr lang="zh-CN" altLang="en-US"/>
          </a:p>
        </p:txBody>
      </p:sp>
      <p:sp>
        <p:nvSpPr>
          <p:cNvPr id="15" name="内容占位符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06800" y="6701790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含金量：国内认可度高的权威英语演讲赛事，覆盖范围广、参赛基数大，获奖证书是英语能力与表达能力的权威证明，对语言类、国际类升学通道具有较强的背景提升价值，部分优质场次还可获得名校面试官的关注机会。</a:t>
            </a:r>
            <a:endParaRPr lang="zh-CN" altLang="en-US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342265" y="1407795"/>
            <a:ext cx="2912110" cy="19615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比赛内容：专注青少年英语能力展示与提升，设置英语演讲、才艺展示、情景对话等多元环节，覆盖小学至高中各年龄段，鼓励青少年自信开口、展现英语应用能力，兼顾语言学习与综合素质培养。</a:t>
            </a:r>
            <a:endParaRPr lang="zh-CN" altLang="en-US"/>
          </a:p>
          <a:p>
            <a:pPr marL="0" indent="0">
              <a:buNone/>
            </a:pP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3606800" y="1438910"/>
            <a:ext cx="2912110" cy="147129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比赛含金量：国内老牌高人气英语赛事，社会认可度与学校认知度较高，获奖经历可作为英语水平的重要佐证，在部分地区的升学综评、英语特色校选拔中具有一定参考价值，同时能为青少年积累舞台表达经验。</a:t>
            </a:r>
            <a:endParaRPr lang="zh-CN" altLang="en-US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741295" y="953135"/>
            <a:ext cx="1376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None/>
            </a:pPr>
            <a:r>
              <a:rPr lang="en-US" altLang="zh-CN">
                <a:sym typeface="+mn-ea"/>
              </a:rPr>
              <a:t>7.</a:t>
            </a:r>
            <a:r>
              <a:rPr lang="zh-CN" altLang="en-US">
                <a:sym typeface="+mn-ea"/>
              </a:rPr>
              <a:t>希望之星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41295" y="3409950"/>
            <a:ext cx="1212215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8.</a:t>
            </a:r>
            <a:r>
              <a:rPr lang="zh-CN" altLang="en-US">
                <a:sym typeface="+mn-ea"/>
              </a:rPr>
              <a:t>康宝莱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626995" y="6111875"/>
            <a:ext cx="1604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r>
              <a:rPr lang="en-US" altLang="zh-CN">
                <a:sym typeface="+mn-ea"/>
              </a:rPr>
              <a:t>9.</a:t>
            </a:r>
            <a:r>
              <a:rPr lang="zh-CN" altLang="en-US">
                <a:sym typeface="+mn-ea"/>
              </a:rPr>
              <a:t>阿思丹商赛</a:t>
            </a:r>
            <a:r>
              <a:rPr lang="zh-CN" altLang="en-US">
                <a:sym typeface="+mn-ea"/>
              </a:rPr>
              <a:t> 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265" y="4029075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比赛内容：聚焦青少年健康生活理念与公益实践，围绕运动健康、营养科普、公益传播等主题开展实践活动与成果展示，引导青少年关注自身健康，传递健康公益理念，锻炼活动策划与公益传播能力。</a:t>
            </a:r>
            <a:endParaRPr lang="zh-CN" altLang="en-US"/>
          </a:p>
        </p:txBody>
      </p:sp>
      <p:sp>
        <p:nvSpPr>
          <p:cNvPr id="12" name="内容占位符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7082790" y="5732780"/>
            <a:ext cx="2912110" cy="1642745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内容占位符 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1950" y="6699885"/>
            <a:ext cx="2912110" cy="1590675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比赛内容：以模拟商业运营为核心，设置市场分析、产品定价、财务规划、路演答辩等环节，让青少年以团队形式模拟企业决策，在真实的商业场景中理解市场逻辑，锻炼商业思维、数据分析与团队协作能力。</a:t>
            </a:r>
            <a:endParaRPr lang="zh-CN" altLang="en-US"/>
          </a:p>
        </p:txBody>
      </p:sp>
      <p:sp>
        <p:nvSpPr>
          <p:cNvPr id="14" name="内容占位符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606800" y="4029075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含金量：知名企业发起的公益向赛事，兼具健康教育与社会实践属性，优秀参与者可获得康宝莱公益平台的实践资源与公益背书，获奖经历能体现青少年的公益参与意识与健康素养，适合作为综合素质背景补充。</a:t>
            </a:r>
            <a:endParaRPr lang="zh-CN" altLang="en-US"/>
          </a:p>
        </p:txBody>
      </p:sp>
      <p:sp>
        <p:nvSpPr>
          <p:cNvPr id="15" name="内容占位符 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06800" y="6701790"/>
            <a:ext cx="2912110" cy="1470660"/>
          </a:xfrm>
          <a:prstGeom prst="rect">
            <a:avLst/>
          </a:prstGeom>
        </p:spPr>
        <p:txBody>
          <a:bodyPr vert="horz" lIns="90000" tIns="46800" rIns="90000" bIns="46800" rtlCol="0">
            <a:normAutofit fontScale="80000"/>
          </a:bodyPr>
          <a:lstStyle>
            <a:lvl1pPr marL="171450" indent="-171450" algn="l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●"/>
              <a:defRPr sz="13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tabLst>
                <a:tab pos="1207135" algn="l"/>
                <a:tab pos="1207135" algn="l"/>
                <a:tab pos="1207135" algn="l"/>
                <a:tab pos="1207135" algn="l"/>
              </a:tabLst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704020202020204" pitchFamily="34" charset="0"/>
              <a:buChar char="●"/>
              <a:defRPr sz="12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704020202020204" pitchFamily="34" charset="0"/>
              <a:buChar char="•"/>
              <a:defRPr sz="105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7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>
                <a:sym typeface="+mn-ea"/>
              </a:rPr>
              <a:t>比赛含金量：国际认可度较高的商业类赛事，体系成熟、参与学校覆盖广，获奖经历是商业思维与实践能力的有力证明，尤其适配商科方向的升学与留学背景提升，部分赛事优秀团队还可获得国际商业赛事的直通机会。</a:t>
            </a:r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配套服务详情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1. 赛事传播支持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我们将以全链路传播视角，记录青少年赛事参与的成长历程。通过多平台内容矩阵，系统呈现参与者的风采与蜕变，打造兼具个人纪念价值与项目影响力的传播内容，为青少年成长留下可沉淀、可传播的独特印记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2. 专项培训课程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围绕赛事核心能力模型，我们设置了十期专项赋能课程，聚焦赛事底层逻辑、核心考点与关键技能要求，由专业师资团队授课，兼顾体系化理论拆解与场景化实战演练，助力青少年快速构建参赛核心竞争力，高效提升赛事表现与综合能力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3. 赛事申请服务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我们为青少年提供赛事全程专属代办服务，由专业服务团队全程跟进，统筹完成赛事报名、材料整理提交、参赛流程全周期跟进等各项事宜，高效梳理并简化各类繁琐事务，免去青少年的流程困扰，让其能够全身心投入赛事备战与能力提升中，以最佳状态从容参赛、全力冲刺。</a:t>
            </a:r>
            <a:endParaRPr lang="zh-CN" altLang="en-US"/>
          </a:p>
        </p:txBody>
      </p:sp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355" y="0"/>
            <a:ext cx="1604645" cy="7175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ffa42d4b3654e6bcf348f993737b577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360" y="5495290"/>
            <a:ext cx="1604645" cy="71755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3c57bc5bf33df27c5f11bdec0452e45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045" y="1263650"/>
            <a:ext cx="2560955" cy="27101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Calligraphy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3048</Words>
  <Application>WPS 演示</Application>
  <PresentationFormat>宽屏</PresentationFormat>
  <Paragraphs>125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Apple Color Emoji</vt:lpstr>
      <vt:lpstr>WPS</vt:lpstr>
      <vt:lpstr>封面</vt:lpstr>
      <vt:lpstr>PowerPoint 演示文稿</vt:lpstr>
      <vt:lpstr>公司概览</vt:lpstr>
      <vt:lpstr>重点推荐赛事（配套专项服务）</vt:lpstr>
      <vt:lpstr>重点推荐赛事（配套专项服务）</vt:lpstr>
      <vt:lpstr>PowerPoint 演示文稿</vt:lpstr>
      <vt:lpstr>配套服务详情</vt:lpstr>
      <vt:lpstr>封底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ABFNHNSL</cp:lastModifiedBy>
  <cp:revision>165</cp:revision>
  <dcterms:created xsi:type="dcterms:W3CDTF">2026-05-06T15:22:54Z</dcterms:created>
  <dcterms:modified xsi:type="dcterms:W3CDTF">2026-05-06T15:22:54Z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636B4ED4F47AB30A1EE9FA69886F5E78_41</vt:lpwstr>
  </property>
</Properties>
</file>